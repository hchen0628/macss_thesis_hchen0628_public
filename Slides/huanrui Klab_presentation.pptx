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6858000" cx="12192000"/>
  <p:notesSz cx="6858000" cy="9144000"/>
  <p:embeddedFontLst>
    <p:embeddedFont>
      <p:font typeface="Robot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hXLZc1xxH5t8VdmkQjRVYYoZOTf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Zhao Wan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bold.fntdata"/><Relationship Id="rId20" Type="http://schemas.openxmlformats.org/officeDocument/2006/relationships/slide" Target="slides/slide15.xml"/><Relationship Id="rId42" Type="http://schemas.openxmlformats.org/officeDocument/2006/relationships/font" Target="fonts/Roboto-boldItalic.fntdata"/><Relationship Id="rId41" Type="http://schemas.openxmlformats.org/officeDocument/2006/relationships/font" Target="fonts/Roboto-italic.fntdata"/><Relationship Id="rId22" Type="http://schemas.openxmlformats.org/officeDocument/2006/relationships/slide" Target="slides/slide17.xml"/><Relationship Id="rId21" Type="http://schemas.openxmlformats.org/officeDocument/2006/relationships/slide" Target="slides/slide16.xml"/><Relationship Id="rId43"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regular.fntdata"/><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3-29T02:59:05.838">
    <p:pos x="528" y="230"/>
    <p:text>does the three aspects on this page provide evidence for the summaries we have in the abstract:"user engagement intensified after the event, tweets posted after the event exhibited higher levels of anger and sadness, and users who joined the conversation after the event were more responsive to emotional intense narratives"?</p:text>
    <p:extLst>
      <p:ext uri="{C676402C-5697-4E1C-873F-D02D1690AC5C}">
        <p15:threadingInfo timeZoneBias="0"/>
      </p:ext>
      <p:ext uri="http://customooxmlschemas.google.com/">
        <go:slidesCustomData xmlns:go="http://customooxmlschemas.google.com/" commentPostId="AAABfTEI5hk"/>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5-03-29T03:18:47.372">
    <p:pos x="3851" y="1949"/>
    <p:text>what is the conclusion for this figure?</p:text>
    <p:extLst>
      <p:ext uri="{C676402C-5697-4E1C-873F-D02D1690AC5C}">
        <p15:threadingInfo timeZoneBias="0"/>
      </p:ext>
      <p:ext uri="http://customooxmlschemas.google.com/">
        <go:slidesCustomData xmlns:go="http://customooxmlschemas.google.com/" commentPostId="AAABfT9nBCs"/>
      </p:ext>
    </p:extLst>
  </p:cm>
  <p:cm authorId="0" idx="3" dt="2025-03-29T03:18:47.372">
    <p:pos x="3851" y="1949"/>
    <p:text>Isn't it natural to show the total number of edges, and the distribution of three different type of edges? Regular edge, strong bridge, weak bridge</p:text>
    <p:extLst>
      <p:ext uri="{C676402C-5697-4E1C-873F-D02D1690AC5C}">
        <p15:threadingInfo timeZoneBias="0">
          <p15:parentCm authorId="0" idx="2"/>
        </p15:threadingInfo>
      </p:ext>
      <p:ext uri="http://customooxmlschemas.google.com/">
        <go:slidesCustomData xmlns:go="http://customooxmlschemas.google.com/" commentPostId="AAABfT9nBC0"/>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5-03-29T03:24:39.887">
    <p:pos x="567" y="1294"/>
    <p:text>According to your definition of bridge on page-20, isn't that all bridges are weak ties?</p:text>
    <p:extLst>
      <p:ext uri="{C676402C-5697-4E1C-873F-D02D1690AC5C}">
        <p15:threadingInfo timeZoneBias="0"/>
      </p:ext>
      <p:ext uri="http://customooxmlschemas.google.com/">
        <go:slidesCustomData xmlns:go="http://customooxmlschemas.google.com/" commentPostId="AAABfT9nBDE"/>
      </p:ext>
    </p:extLst>
  </p:cm>
  <p:cm authorId="0" idx="5" dt="2025-03-29T03:22:29.854">
    <p:pos x="567" y="1394"/>
    <p:text>which slide provide evidence to support this claim?</p:text>
    <p:extLst>
      <p:ext uri="{C676402C-5697-4E1C-873F-D02D1690AC5C}">
        <p15:threadingInfo timeZoneBias="0"/>
      </p:ext>
      <p:ext uri="http://customooxmlschemas.google.com/">
        <go:slidesCustomData xmlns:go="http://customooxmlschemas.google.com/" commentPostId="AAABfT9nBDA"/>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5-03-29T03:30:53.695">
    <p:pos x="528" y="73"/>
    <p:text>the contents on this page are just hypothesis that need to be tested with additional experiments, right?</p:text>
    <p:extLst>
      <p:ext uri="{C676402C-5697-4E1C-873F-D02D1690AC5C}">
        <p15:threadingInfo timeZoneBias="0"/>
      </p:ext>
      <p:ext uri="http://customooxmlschemas.google.com/">
        <go:slidesCustomData xmlns:go="http://customooxmlschemas.google.com/" commentPostId="AAABfT9nBDc"/>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5-03-29T03:36:19.523">
    <p:pos x="960" y="1253"/>
    <p:text>what are your research questions in the next step?</p:text>
    <p:extLst>
      <p:ext uri="{C676402C-5697-4E1C-873F-D02D1690AC5C}">
        <p15:threadingInfo timeZoneBias="0"/>
      </p:ext>
      <p:ext uri="http://customooxmlschemas.google.com/">
        <go:slidesCustomData xmlns:go="http://customooxmlschemas.google.com/" commentPostId="AAABfT9nBDs"/>
      </p:ext>
    </p:extLs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5-03-29T03:32:56.010">
    <p:pos x="1252" y="954"/>
    <p:text>additional emotional intense events</p:text>
    <p:extLst>
      <p:ext uri="{C676402C-5697-4E1C-873F-D02D1690AC5C}">
        <p15:threadingInfo timeZoneBias="0"/>
      </p:ext>
      <p:ext uri="http://customooxmlschemas.google.com/">
        <go:slidesCustomData xmlns:go="http://customooxmlschemas.google.com/" commentPostId="AAABfT9nBDg"/>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43bd23a7fb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43bd23a7fb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3bd23a7fb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g343bd23a7fb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3bd23a7f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3bd23a7f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45d982277e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45d982277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43bd23a7fb_2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43bd23a7fb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45d982277e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g345d982277e_1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463cbfe38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g3463cbfe38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45d982277e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45d982277e_1_1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3bd23a7fb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g343bd23a7fb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43bd23a7fb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43bd23a7fb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43bd23a7f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43bd23a7f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43bd23a7fb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43bd23a7f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45d982277e_1_2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45d982277e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45d982277e_1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45d982277e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465817b32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465817b32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43bd23a7fb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43bd23a7f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43bd23a7fb_2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43bd23a7fb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43bd23a7fb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43bd23a7fb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43bd23a7fb_2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343bd23a7fb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45d982277e_1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45d982277e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463cbfe385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463cbfe385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45d982277e_1_1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45d982277e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45d982277e_1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45d982277e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45d982277e_1_1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45d982277e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45d982277e_1_1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45d982277e_1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43bd23a7fb_2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43bd23a7fb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43bd23a7fb_2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43bd23a7fb_2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43bd23a7fb_2_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43bd23a7fb_2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45d982277e_1_1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45d982277e_1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87350" lvl="0" marL="457200" rtl="0" algn="l">
              <a:lnSpc>
                <a:spcPct val="90000"/>
              </a:lnSpc>
              <a:spcBef>
                <a:spcPts val="1000"/>
              </a:spcBef>
              <a:spcAft>
                <a:spcPts val="0"/>
              </a:spcAft>
              <a:buClr>
                <a:schemeClr val="dk1"/>
              </a:buClr>
              <a:buSzPts val="2500"/>
              <a:buChar char="●"/>
            </a:pPr>
            <a:r>
              <a:rPr lang="en-US" sz="2500">
                <a:solidFill>
                  <a:schemeClr val="dk1"/>
                </a:solidFill>
                <a:latin typeface="Calibri"/>
                <a:ea typeface="Calibri"/>
                <a:cs typeface="Calibri"/>
                <a:sym typeface="Calibri"/>
              </a:rPr>
              <a:t>Focus on shocking events and their emotional intensity.</a:t>
            </a:r>
            <a:endParaRPr sz="2500">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3e3ff9dc5d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3e3ff9dc5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45d982277e_1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45d982277e_1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 name="Shape 28"/>
        <p:cNvGrpSpPr/>
        <p:nvPr/>
      </p:nvGrpSpPr>
      <p:grpSpPr>
        <a:xfrm>
          <a:off x="0" y="0"/>
          <a:ext cx="0" cy="0"/>
          <a:chOff x="0" y="0"/>
          <a:chExt cx="0" cy="0"/>
        </a:xfrm>
      </p:grpSpPr>
      <p:sp>
        <p:nvSpPr>
          <p:cNvPr id="29" name="Google Shape;29;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2" name="Shape 32"/>
        <p:cNvGrpSpPr/>
        <p:nvPr/>
      </p:nvGrpSpPr>
      <p:grpSpPr>
        <a:xfrm>
          <a:off x="0" y="0"/>
          <a:ext cx="0" cy="0"/>
          <a:chOff x="0" y="0"/>
          <a:chExt cx="0" cy="0"/>
        </a:xfrm>
      </p:grpSpPr>
      <p:sp>
        <p:nvSpPr>
          <p:cNvPr id="33" name="Google Shape;3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5" name="Google Shape;35;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3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5183188" y="987425"/>
            <a:ext cx="6172200" cy="4873625"/>
          </a:xfrm>
          <a:prstGeom prst="rect">
            <a:avLst/>
          </a:prstGeom>
          <a:noFill/>
          <a:ln>
            <a:noFill/>
          </a:ln>
        </p:spPr>
      </p:sp>
      <p:sp>
        <p:nvSpPr>
          <p:cNvPr id="64" name="Google Shape;64;p3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comments" Target="../comments/commen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7.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comments" Target="../comments/comment2.xml"/><Relationship Id="rId4" Type="http://schemas.openxmlformats.org/officeDocument/2006/relationships/image" Target="../media/image5.png"/><Relationship Id="rId5"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comments" Target="../comments/commen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comments" Target="../comments/commen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comments" Target="../comments/commen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comments" Target="../comments/comment6.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0" y="1122363"/>
            <a:ext cx="12192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4500"/>
              <a:buFont typeface="Calibri"/>
              <a:buNone/>
            </a:pPr>
            <a:r>
              <a:rPr lang="en-US" sz="4500"/>
              <a:t>Emotional Catalysts and Dynamic Networks:</a:t>
            </a:r>
            <a:br>
              <a:rPr lang="en-US" sz="4500"/>
            </a:br>
            <a:r>
              <a:rPr lang="en-US" sz="3800"/>
              <a:t>A Computational Analysis of Mobilization in Digital Activism</a:t>
            </a:r>
            <a:br>
              <a:rPr lang="en-US" sz="3800"/>
            </a:br>
            <a:endParaRPr sz="3800"/>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a:p>
            <a:pPr indent="0" lvl="0" marL="0" rtl="0" algn="ctr">
              <a:lnSpc>
                <a:spcPct val="90000"/>
              </a:lnSpc>
              <a:spcBef>
                <a:spcPts val="1000"/>
              </a:spcBef>
              <a:spcAft>
                <a:spcPts val="0"/>
              </a:spcAft>
              <a:buClr>
                <a:schemeClr val="dk1"/>
              </a:buClr>
              <a:buSzPts val="2400"/>
              <a:buNone/>
            </a:pPr>
            <a:r>
              <a:rPr lang="en-US"/>
              <a:t>Huanrui </a:t>
            </a:r>
            <a:r>
              <a:rPr lang="en-US"/>
              <a:t>CHEN, MACSS student</a:t>
            </a:r>
            <a:endParaRPr/>
          </a:p>
          <a:p>
            <a:pPr indent="0" lvl="0" marL="0" rtl="0" algn="ctr">
              <a:lnSpc>
                <a:spcPct val="90000"/>
              </a:lnSpc>
              <a:spcBef>
                <a:spcPts val="1000"/>
              </a:spcBef>
              <a:spcAft>
                <a:spcPts val="0"/>
              </a:spcAft>
              <a:buClr>
                <a:schemeClr val="dk1"/>
              </a:buClr>
              <a:buSzPts val="2400"/>
              <a:buNone/>
            </a:pPr>
            <a:r>
              <a:rPr lang="en-US"/>
              <a:t>MA thesis advisor: Zhao Wang (and Hongbo Fang)</a:t>
            </a:r>
            <a:endParaRPr/>
          </a:p>
        </p:txBody>
      </p:sp>
      <p:sp>
        <p:nvSpPr>
          <p:cNvPr id="86" name="Google Shape;86;p1"/>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a:t>
            </a:r>
            <a:endParaRPr sz="900">
              <a:solidFill>
                <a:srgbClr val="88888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43bd23a7fb_2_0"/>
          <p:cNvSpPr txBox="1"/>
          <p:nvPr>
            <p:ph type="title"/>
          </p:nvPr>
        </p:nvSpPr>
        <p:spPr>
          <a:xfrm>
            <a:off x="-1027750" y="563425"/>
            <a:ext cx="88422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Digital activism today…</a:t>
            </a:r>
            <a:endParaRPr/>
          </a:p>
        </p:txBody>
      </p:sp>
      <p:sp>
        <p:nvSpPr>
          <p:cNvPr id="92" name="Google Shape;92;g343bd23a7fb_2_0"/>
          <p:cNvSpPr txBox="1"/>
          <p:nvPr>
            <p:ph idx="1" type="body"/>
          </p:nvPr>
        </p:nvSpPr>
        <p:spPr>
          <a:xfrm>
            <a:off x="707925" y="1508625"/>
            <a:ext cx="10515600" cy="4351200"/>
          </a:xfrm>
          <a:prstGeom prst="rect">
            <a:avLst/>
          </a:prstGeom>
        </p:spPr>
        <p:txBody>
          <a:bodyPr anchorCtr="0" anchor="t" bIns="45700" lIns="91425" spcFirstLastPara="1" rIns="91425" wrap="square" tIns="45700">
            <a:normAutofit lnSpcReduction="10000"/>
          </a:bodyPr>
          <a:lstStyle/>
          <a:p>
            <a:pPr indent="0" lvl="0" marL="0" rtl="0" algn="l">
              <a:lnSpc>
                <a:spcPct val="115000"/>
              </a:lnSpc>
              <a:spcBef>
                <a:spcPts val="1400"/>
              </a:spcBef>
              <a:spcAft>
                <a:spcPts val="0"/>
              </a:spcAft>
              <a:buClr>
                <a:schemeClr val="dk1"/>
              </a:buClr>
              <a:buSzPts val="1100"/>
              <a:buFont typeface="Arial"/>
              <a:buNone/>
            </a:pPr>
            <a:r>
              <a:t/>
            </a:r>
            <a:endParaRPr b="1" sz="2500">
              <a:latin typeface="Arial"/>
              <a:ea typeface="Arial"/>
              <a:cs typeface="Arial"/>
              <a:sym typeface="Arial"/>
            </a:endParaRPr>
          </a:p>
          <a:p>
            <a:pPr indent="-387350" lvl="0" marL="457200" marR="381000" rtl="0" algn="l">
              <a:lnSpc>
                <a:spcPct val="115000"/>
              </a:lnSpc>
              <a:spcBef>
                <a:spcPts val="1200"/>
              </a:spcBef>
              <a:spcAft>
                <a:spcPts val="0"/>
              </a:spcAft>
              <a:buSzPts val="2500"/>
              <a:buChar char="●"/>
            </a:pPr>
            <a:r>
              <a:rPr lang="en-US" sz="2000">
                <a:latin typeface="Arial"/>
                <a:ea typeface="Arial"/>
                <a:cs typeface="Arial"/>
                <a:sym typeface="Arial"/>
              </a:rPr>
              <a:t>Social movements stem from deep </a:t>
            </a:r>
            <a:r>
              <a:rPr b="1" lang="en-US" sz="2000">
                <a:latin typeface="Arial"/>
                <a:ea typeface="Arial"/>
                <a:cs typeface="Arial"/>
                <a:sym typeface="Arial"/>
              </a:rPr>
              <a:t>structural inequalities</a:t>
            </a:r>
            <a:r>
              <a:rPr lang="en-US" sz="2000">
                <a:latin typeface="Arial"/>
                <a:ea typeface="Arial"/>
                <a:cs typeface="Arial"/>
                <a:sym typeface="Arial"/>
              </a:rPr>
              <a:t> or </a:t>
            </a:r>
            <a:r>
              <a:rPr b="1" lang="en-US" sz="2000">
                <a:latin typeface="Arial"/>
                <a:ea typeface="Arial"/>
                <a:cs typeface="Arial"/>
                <a:sym typeface="Arial"/>
              </a:rPr>
              <a:t>value conflicts</a:t>
            </a:r>
            <a:r>
              <a:rPr lang="en-US" sz="2000">
                <a:latin typeface="Arial"/>
                <a:ea typeface="Arial"/>
                <a:cs typeface="Arial"/>
                <a:sym typeface="Arial"/>
              </a:rPr>
              <a:t>.</a:t>
            </a:r>
            <a:endParaRPr sz="2000">
              <a:latin typeface="Arial"/>
              <a:ea typeface="Arial"/>
              <a:cs typeface="Arial"/>
              <a:sym typeface="Arial"/>
            </a:endParaRPr>
          </a:p>
          <a:p>
            <a:pPr indent="0" lvl="0" marL="0" marR="381000" rtl="0" algn="l">
              <a:lnSpc>
                <a:spcPct val="115000"/>
              </a:lnSpc>
              <a:spcBef>
                <a:spcPts val="1200"/>
              </a:spcBef>
              <a:spcAft>
                <a:spcPts val="0"/>
              </a:spcAft>
              <a:buNone/>
            </a:pPr>
            <a:r>
              <a:t/>
            </a:r>
            <a:endParaRPr sz="2000">
              <a:latin typeface="Arial"/>
              <a:ea typeface="Arial"/>
              <a:cs typeface="Arial"/>
              <a:sym typeface="Arial"/>
            </a:endParaRPr>
          </a:p>
          <a:p>
            <a:pPr indent="-387350" lvl="0" marL="457200" marR="381000" rtl="0" algn="l">
              <a:lnSpc>
                <a:spcPct val="115000"/>
              </a:lnSpc>
              <a:spcBef>
                <a:spcPts val="1200"/>
              </a:spcBef>
              <a:spcAft>
                <a:spcPts val="0"/>
              </a:spcAft>
              <a:buSzPts val="2500"/>
              <a:buChar char="●"/>
            </a:pPr>
            <a:r>
              <a:rPr lang="en-US" sz="2000">
                <a:latin typeface="Arial"/>
                <a:ea typeface="Arial"/>
                <a:cs typeface="Arial"/>
                <a:sym typeface="Arial"/>
              </a:rPr>
              <a:t>These tensions often </a:t>
            </a:r>
            <a:r>
              <a:rPr b="1" lang="en-US" sz="2000">
                <a:latin typeface="Arial"/>
                <a:ea typeface="Arial"/>
                <a:cs typeface="Arial"/>
                <a:sym typeface="Arial"/>
              </a:rPr>
              <a:t>remain latent</a:t>
            </a:r>
            <a:r>
              <a:rPr lang="en-US" sz="2000">
                <a:latin typeface="Arial"/>
                <a:ea typeface="Arial"/>
                <a:cs typeface="Arial"/>
                <a:sym typeface="Arial"/>
              </a:rPr>
              <a:t> online, until a </a:t>
            </a:r>
            <a:r>
              <a:rPr b="1" lang="en-US" sz="2000">
                <a:latin typeface="Arial"/>
                <a:ea typeface="Arial"/>
                <a:cs typeface="Arial"/>
                <a:sym typeface="Arial"/>
              </a:rPr>
              <a:t>“focusing event”</a:t>
            </a:r>
            <a:r>
              <a:rPr lang="en-US" sz="2000">
                <a:latin typeface="Arial"/>
                <a:ea typeface="Arial"/>
                <a:cs typeface="Arial"/>
                <a:sym typeface="Arial"/>
              </a:rPr>
              <a:t> triggers public response.</a:t>
            </a:r>
            <a:endParaRPr sz="2000">
              <a:latin typeface="Arial"/>
              <a:ea typeface="Arial"/>
              <a:cs typeface="Arial"/>
              <a:sym typeface="Arial"/>
            </a:endParaRPr>
          </a:p>
          <a:p>
            <a:pPr indent="0" lvl="0" marL="0" marR="381000" rtl="0" algn="l">
              <a:lnSpc>
                <a:spcPct val="115000"/>
              </a:lnSpc>
              <a:spcBef>
                <a:spcPts val="1200"/>
              </a:spcBef>
              <a:spcAft>
                <a:spcPts val="0"/>
              </a:spcAft>
              <a:buNone/>
            </a:pPr>
            <a:r>
              <a:t/>
            </a:r>
            <a:endParaRPr sz="2000">
              <a:latin typeface="Arial"/>
              <a:ea typeface="Arial"/>
              <a:cs typeface="Arial"/>
              <a:sym typeface="Arial"/>
            </a:endParaRPr>
          </a:p>
          <a:p>
            <a:pPr indent="-387350" lvl="0" marL="457200" marR="381000" rtl="0" algn="l">
              <a:lnSpc>
                <a:spcPct val="115000"/>
              </a:lnSpc>
              <a:spcBef>
                <a:spcPts val="1200"/>
              </a:spcBef>
              <a:spcAft>
                <a:spcPts val="0"/>
              </a:spcAft>
              <a:buSzPts val="2500"/>
              <a:buChar char="●"/>
            </a:pPr>
            <a:r>
              <a:rPr lang="en-US" sz="2000">
                <a:latin typeface="Arial"/>
                <a:ea typeface="Arial"/>
                <a:cs typeface="Arial"/>
                <a:sym typeface="Arial"/>
              </a:rPr>
              <a:t>What role do these </a:t>
            </a:r>
            <a:r>
              <a:rPr b="1" lang="en-US" sz="2000">
                <a:latin typeface="Arial"/>
                <a:ea typeface="Arial"/>
                <a:cs typeface="Arial"/>
                <a:sym typeface="Arial"/>
              </a:rPr>
              <a:t>unexpected</a:t>
            </a:r>
            <a:r>
              <a:rPr lang="en-US" sz="2000">
                <a:latin typeface="Arial"/>
                <a:ea typeface="Arial"/>
                <a:cs typeface="Arial"/>
                <a:sym typeface="Arial"/>
              </a:rPr>
              <a:t>,</a:t>
            </a:r>
            <a:r>
              <a:rPr b="1" lang="en-US" sz="2000">
                <a:latin typeface="Arial"/>
                <a:ea typeface="Arial"/>
                <a:cs typeface="Arial"/>
                <a:sym typeface="Arial"/>
              </a:rPr>
              <a:t> emotionally</a:t>
            </a:r>
            <a:r>
              <a:rPr lang="en-US" sz="2000">
                <a:latin typeface="Arial"/>
                <a:ea typeface="Arial"/>
                <a:cs typeface="Arial"/>
                <a:sym typeface="Arial"/>
              </a:rPr>
              <a:t> charged events play?</a:t>
            </a:r>
            <a:endParaRPr sz="2000">
              <a:latin typeface="Arial"/>
              <a:ea typeface="Arial"/>
              <a:cs typeface="Arial"/>
              <a:sym typeface="Arial"/>
            </a:endParaRPr>
          </a:p>
          <a:p>
            <a:pPr indent="0" lvl="0" marL="381000" marR="381000" rtl="0" algn="l">
              <a:lnSpc>
                <a:spcPct val="115000"/>
              </a:lnSpc>
              <a:spcBef>
                <a:spcPts val="1200"/>
              </a:spcBef>
              <a:spcAft>
                <a:spcPts val="0"/>
              </a:spcAft>
              <a:buNone/>
            </a:pPr>
            <a:r>
              <a:t/>
            </a:r>
            <a:endParaRPr sz="1900">
              <a:latin typeface="Arial"/>
              <a:ea typeface="Arial"/>
              <a:cs typeface="Arial"/>
              <a:sym typeface="Arial"/>
            </a:endParaRPr>
          </a:p>
          <a:p>
            <a:pPr indent="0" lvl="0" marL="381000" marR="381000" rtl="0" algn="l">
              <a:lnSpc>
                <a:spcPct val="115000"/>
              </a:lnSpc>
              <a:spcBef>
                <a:spcPts val="1200"/>
              </a:spcBef>
              <a:spcAft>
                <a:spcPts val="1200"/>
              </a:spcAft>
              <a:buNone/>
            </a:pPr>
            <a:r>
              <a:t/>
            </a:r>
            <a:endParaRPr sz="1900">
              <a:latin typeface="Arial"/>
              <a:ea typeface="Arial"/>
              <a:cs typeface="Arial"/>
              <a:sym typeface="Arial"/>
            </a:endParaRPr>
          </a:p>
        </p:txBody>
      </p:sp>
      <p:sp>
        <p:nvSpPr>
          <p:cNvPr id="93" name="Google Shape;93;g343bd23a7fb_2_0"/>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a:t>
            </a:r>
            <a:endParaRPr sz="900">
              <a:solidFill>
                <a:srgbClr val="888888"/>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type="title"/>
          </p:nvPr>
        </p:nvSpPr>
        <p:spPr>
          <a:xfrm>
            <a:off x="838200" y="18255"/>
            <a:ext cx="10515600" cy="1112045"/>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Black Lives Matter (BLM) movement</a:t>
            </a:r>
            <a:endParaRPr/>
          </a:p>
        </p:txBody>
      </p:sp>
      <p:sp>
        <p:nvSpPr>
          <p:cNvPr id="99" name="Google Shape;99;p3"/>
          <p:cNvSpPr txBox="1"/>
          <p:nvPr>
            <p:ph idx="1" type="body"/>
          </p:nvPr>
        </p:nvSpPr>
        <p:spPr>
          <a:xfrm>
            <a:off x="838200" y="113030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2013~now</a:t>
            </a:r>
            <a:endParaRPr/>
          </a:p>
          <a:p>
            <a:pPr indent="-228600" lvl="1" marL="685800" rtl="0" algn="l">
              <a:lnSpc>
                <a:spcPct val="90000"/>
              </a:lnSpc>
              <a:spcBef>
                <a:spcPts val="500"/>
              </a:spcBef>
              <a:spcAft>
                <a:spcPts val="0"/>
              </a:spcAft>
              <a:buClr>
                <a:schemeClr val="dk1"/>
              </a:buClr>
              <a:buSzPts val="2400"/>
              <a:buChar char="•"/>
            </a:pPr>
            <a:r>
              <a:rPr lang="en-US"/>
              <a:t>2013: killing of Trayvon Martin, created by activists Alicia Garza, Patrisse Cullors, and Opal Tometi</a:t>
            </a:r>
            <a:endParaRPr/>
          </a:p>
          <a:p>
            <a:pPr indent="-228600" lvl="1" marL="685800" rtl="0" algn="l">
              <a:lnSpc>
                <a:spcPct val="90000"/>
              </a:lnSpc>
              <a:spcBef>
                <a:spcPts val="500"/>
              </a:spcBef>
              <a:spcAft>
                <a:spcPts val="0"/>
              </a:spcAft>
              <a:buClr>
                <a:schemeClr val="dk1"/>
              </a:buClr>
              <a:buSzPts val="2400"/>
              <a:buChar char="•"/>
            </a:pPr>
            <a:r>
              <a:rPr lang="en-US"/>
              <a:t>2014: Michael Brown, Eric Garner</a:t>
            </a:r>
            <a:endParaRPr/>
          </a:p>
          <a:p>
            <a:pPr indent="-228600" lvl="1" marL="685800" rtl="0" algn="l">
              <a:lnSpc>
                <a:spcPct val="90000"/>
              </a:lnSpc>
              <a:spcBef>
                <a:spcPts val="500"/>
              </a:spcBef>
              <a:spcAft>
                <a:spcPts val="0"/>
              </a:spcAft>
              <a:buClr>
                <a:schemeClr val="dk1"/>
              </a:buClr>
              <a:buSzPts val="2400"/>
              <a:buChar char="•"/>
            </a:pPr>
            <a:r>
              <a:rPr lang="en-US"/>
              <a:t>2020: The death of George Floyd (May 25</a:t>
            </a:r>
            <a:r>
              <a:rPr baseline="30000" lang="en-US"/>
              <a:t>th</a:t>
            </a:r>
            <a:r>
              <a:rPr lang="en-US"/>
              <a:t>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Police officer Derek Chauvin stares into the camera as he kneels on the neck of George Floyd, who is lying on his stomach on the street" id="100" name="Google Shape;100;p3"/>
          <p:cNvPicPr preferRelativeResize="0"/>
          <p:nvPr/>
        </p:nvPicPr>
        <p:blipFill rotWithShape="1">
          <a:blip r:embed="rId3">
            <a:alphaModFix/>
          </a:blip>
          <a:srcRect b="0" l="0" r="0" t="0"/>
          <a:stretch/>
        </p:blipFill>
        <p:spPr>
          <a:xfrm>
            <a:off x="8181337" y="2748138"/>
            <a:ext cx="2263775" cy="3448720"/>
          </a:xfrm>
          <a:prstGeom prst="rect">
            <a:avLst/>
          </a:prstGeom>
          <a:noFill/>
          <a:ln>
            <a:noFill/>
          </a:ln>
        </p:spPr>
      </p:pic>
      <p:pic>
        <p:nvPicPr>
          <p:cNvPr descr="undefined" id="101" name="Google Shape;101;p3"/>
          <p:cNvPicPr preferRelativeResize="0"/>
          <p:nvPr/>
        </p:nvPicPr>
        <p:blipFill rotWithShape="1">
          <a:blip r:embed="rId4">
            <a:alphaModFix/>
          </a:blip>
          <a:srcRect b="0" l="0" r="0" t="0"/>
          <a:stretch/>
        </p:blipFill>
        <p:spPr>
          <a:xfrm>
            <a:off x="2099414" y="3529013"/>
            <a:ext cx="3070279" cy="2717800"/>
          </a:xfrm>
          <a:prstGeom prst="rect">
            <a:avLst/>
          </a:prstGeom>
          <a:noFill/>
          <a:ln>
            <a:noFill/>
          </a:ln>
        </p:spPr>
      </p:pic>
      <p:sp>
        <p:nvSpPr>
          <p:cNvPr id="102" name="Google Shape;102;p3"/>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3</a:t>
            </a:r>
            <a:endParaRPr sz="900">
              <a:solidFill>
                <a:srgbClr val="888888"/>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343bd23a7fb_0_76"/>
          <p:cNvSpPr txBox="1"/>
          <p:nvPr>
            <p:ph type="title"/>
          </p:nvPr>
        </p:nvSpPr>
        <p:spPr>
          <a:xfrm>
            <a:off x="-2630625" y="471930"/>
            <a:ext cx="10515600" cy="1112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Data Collection</a:t>
            </a:r>
            <a:endParaRPr/>
          </a:p>
        </p:txBody>
      </p:sp>
      <p:sp>
        <p:nvSpPr>
          <p:cNvPr id="108" name="Google Shape;108;g343bd23a7fb_0_76"/>
          <p:cNvSpPr txBox="1"/>
          <p:nvPr>
            <p:ph idx="1" type="body"/>
          </p:nvPr>
        </p:nvSpPr>
        <p:spPr>
          <a:xfrm>
            <a:off x="988650" y="1148000"/>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109" name="Google Shape;109;g343bd23a7fb_0_76"/>
          <p:cNvSpPr txBox="1"/>
          <p:nvPr/>
        </p:nvSpPr>
        <p:spPr>
          <a:xfrm>
            <a:off x="720175" y="1223850"/>
            <a:ext cx="10574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10" name="Google Shape;110;g343bd23a7fb_0_76"/>
          <p:cNvSpPr txBox="1"/>
          <p:nvPr/>
        </p:nvSpPr>
        <p:spPr>
          <a:xfrm>
            <a:off x="838200" y="1739700"/>
            <a:ext cx="9413400" cy="337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2500">
                <a:solidFill>
                  <a:schemeClr val="dk1"/>
                </a:solidFill>
              </a:rPr>
              <a:t>Dataset crawled from X (Twitter)</a:t>
            </a:r>
            <a:endParaRPr b="1" sz="2500">
              <a:solidFill>
                <a:schemeClr val="dk1"/>
              </a:solidFill>
            </a:endParaRPr>
          </a:p>
          <a:p>
            <a:pPr indent="-387350" lvl="0" marL="457200" rtl="0" algn="l">
              <a:lnSpc>
                <a:spcPct val="115000"/>
              </a:lnSpc>
              <a:spcBef>
                <a:spcPts val="1200"/>
              </a:spcBef>
              <a:spcAft>
                <a:spcPts val="0"/>
              </a:spcAft>
              <a:buClr>
                <a:schemeClr val="dk1"/>
              </a:buClr>
              <a:buSzPts val="2500"/>
              <a:buChar char="●"/>
            </a:pPr>
            <a:r>
              <a:rPr b="1" lang="en-US" sz="2500">
                <a:solidFill>
                  <a:schemeClr val="dk1"/>
                </a:solidFill>
              </a:rPr>
              <a:t>Key Event:</a:t>
            </a:r>
            <a:r>
              <a:rPr lang="en-US" sz="2500">
                <a:solidFill>
                  <a:schemeClr val="dk1"/>
                </a:solidFill>
              </a:rPr>
              <a:t> </a:t>
            </a:r>
            <a:r>
              <a:rPr i="1" lang="en-US" sz="2500">
                <a:solidFill>
                  <a:schemeClr val="dk1"/>
                </a:solidFill>
              </a:rPr>
              <a:t>George Floyd’s death</a:t>
            </a:r>
            <a:r>
              <a:rPr lang="en-US" sz="2500">
                <a:solidFill>
                  <a:schemeClr val="dk1"/>
                </a:solidFill>
              </a:rPr>
              <a:t> – </a:t>
            </a:r>
            <a:r>
              <a:rPr b="1" lang="en-US" sz="2500">
                <a:solidFill>
                  <a:schemeClr val="dk1"/>
                </a:solidFill>
              </a:rPr>
              <a:t>May 25, 2020</a:t>
            </a:r>
            <a:endParaRPr b="1"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Timeframe:</a:t>
            </a:r>
            <a:r>
              <a:rPr lang="en-US" sz="2500">
                <a:solidFill>
                  <a:schemeClr val="dk1"/>
                </a:solidFill>
              </a:rPr>
              <a:t> May 2019 – May 2021</a:t>
            </a:r>
            <a:endParaRPr b="1"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extLst>
                  <a:ext uri="http://customooxmlschemas.google.com/">
                    <go:slidesCustomData xmlns:go="http://customooxmlschemas.google.com/" textRoundtripDataId="0"/>
                  </a:ext>
                </a:extLst>
              </a:rPr>
              <a:t>Hashtags</a:t>
            </a:r>
            <a:r>
              <a:rPr b="1" lang="en-US" sz="2500">
                <a:solidFill>
                  <a:schemeClr val="dk1"/>
                </a:solidFill>
              </a:rPr>
              <a:t>: </a:t>
            </a:r>
            <a:r>
              <a:rPr lang="en-US" sz="2500">
                <a:solidFill>
                  <a:schemeClr val="dk1"/>
                </a:solidFill>
              </a:rPr>
              <a:t>#BLM #BlackLivesMatter</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141,319</a:t>
            </a:r>
            <a:r>
              <a:rPr lang="en-US" sz="2500">
                <a:solidFill>
                  <a:schemeClr val="dk1"/>
                </a:solidFill>
              </a:rPr>
              <a:t> original tweets </a:t>
            </a:r>
            <a:r>
              <a:rPr i="1" lang="en-US" sz="2500">
                <a:solidFill>
                  <a:schemeClr val="dk1"/>
                </a:solidFill>
              </a:rPr>
              <a:t>(Before: 9K → After: 132K)</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5.86M</a:t>
            </a:r>
            <a:r>
              <a:rPr lang="en-US" sz="2500">
                <a:solidFill>
                  <a:schemeClr val="dk1"/>
                </a:solidFill>
              </a:rPr>
              <a:t> total retweets </a:t>
            </a:r>
            <a:r>
              <a:rPr i="1" lang="en-US" sz="2500">
                <a:solidFill>
                  <a:schemeClr val="dk1"/>
                </a:solidFill>
              </a:rPr>
              <a:t>(Before:233K → After: 5.63M)</a:t>
            </a:r>
            <a:endParaRPr sz="2500">
              <a:solidFill>
                <a:schemeClr val="dk1"/>
              </a:solidFill>
            </a:endParaRPr>
          </a:p>
          <a:p>
            <a:pPr indent="-387350" lvl="0" marL="457200" rtl="0" algn="l">
              <a:lnSpc>
                <a:spcPct val="115000"/>
              </a:lnSpc>
              <a:spcBef>
                <a:spcPts val="0"/>
              </a:spcBef>
              <a:spcAft>
                <a:spcPts val="0"/>
              </a:spcAft>
              <a:buClr>
                <a:schemeClr val="dk1"/>
              </a:buClr>
              <a:buSzPts val="2500"/>
              <a:buChar char="●"/>
            </a:pPr>
            <a:r>
              <a:rPr b="1" lang="en-US" sz="2500">
                <a:solidFill>
                  <a:schemeClr val="dk1"/>
                </a:solidFill>
              </a:rPr>
              <a:t>2.33M</a:t>
            </a:r>
            <a:r>
              <a:rPr lang="en-US" sz="2500">
                <a:solidFill>
                  <a:schemeClr val="dk1"/>
                </a:solidFill>
              </a:rPr>
              <a:t> unique users</a:t>
            </a:r>
            <a:endParaRPr sz="2500">
              <a:solidFill>
                <a:schemeClr val="dk1"/>
              </a:solidFill>
              <a:latin typeface="Calibri"/>
              <a:ea typeface="Calibri"/>
              <a:cs typeface="Calibri"/>
              <a:sym typeface="Calibri"/>
            </a:endParaRPr>
          </a:p>
        </p:txBody>
      </p:sp>
      <p:sp>
        <p:nvSpPr>
          <p:cNvPr id="111" name="Google Shape;111;g343bd23a7fb_0_76"/>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4</a:t>
            </a:r>
            <a:endParaRPr sz="900">
              <a:solidFill>
                <a:srgbClr val="888888"/>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343bd23a7fb_0_0"/>
          <p:cNvSpPr txBox="1"/>
          <p:nvPr>
            <p:ph idx="1" type="body"/>
          </p:nvPr>
        </p:nvSpPr>
        <p:spPr>
          <a:xfrm>
            <a:off x="740025" y="5607200"/>
            <a:ext cx="11191200" cy="769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Tweet </a:t>
            </a:r>
            <a:r>
              <a:rPr lang="en-US"/>
              <a:t>related</a:t>
            </a:r>
            <a:r>
              <a:rPr lang="en-US"/>
              <a:t> with BLM spiked in June 2020 following George Floyd’s death.</a:t>
            </a:r>
            <a:endParaRPr/>
          </a:p>
        </p:txBody>
      </p:sp>
      <p:pic>
        <p:nvPicPr>
          <p:cNvPr id="117" name="Google Shape;117;g343bd23a7fb_0_0"/>
          <p:cNvPicPr preferRelativeResize="0"/>
          <p:nvPr/>
        </p:nvPicPr>
        <p:blipFill>
          <a:blip r:embed="rId3">
            <a:alphaModFix/>
          </a:blip>
          <a:stretch>
            <a:fillRect/>
          </a:stretch>
        </p:blipFill>
        <p:spPr>
          <a:xfrm>
            <a:off x="915824" y="439225"/>
            <a:ext cx="10012676" cy="4968450"/>
          </a:xfrm>
          <a:prstGeom prst="rect">
            <a:avLst/>
          </a:prstGeom>
          <a:noFill/>
          <a:ln>
            <a:noFill/>
          </a:ln>
        </p:spPr>
      </p:pic>
      <p:sp>
        <p:nvSpPr>
          <p:cNvPr id="118" name="Google Shape;118;g343bd23a7fb_0_0"/>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5</a:t>
            </a:r>
            <a:endParaRPr sz="900">
              <a:solidFill>
                <a:srgbClr val="888888"/>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45d982277e_1_21"/>
          <p:cNvSpPr txBox="1"/>
          <p:nvPr>
            <p:ph type="title"/>
          </p:nvPr>
        </p:nvSpPr>
        <p:spPr>
          <a:xfrm>
            <a:off x="-2276675" y="374580"/>
            <a:ext cx="10515600" cy="1112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Research Question 1:</a:t>
            </a:r>
            <a:endParaRPr/>
          </a:p>
        </p:txBody>
      </p:sp>
      <p:sp>
        <p:nvSpPr>
          <p:cNvPr id="124" name="Google Shape;124;g345d982277e_1_21"/>
          <p:cNvSpPr txBox="1"/>
          <p:nvPr>
            <p:ph idx="1" type="body"/>
          </p:nvPr>
        </p:nvSpPr>
        <p:spPr>
          <a:xfrm>
            <a:off x="520800" y="1642550"/>
            <a:ext cx="11671200" cy="50214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2400"/>
              </a:spcBef>
              <a:spcAft>
                <a:spcPts val="0"/>
              </a:spcAft>
              <a:buNone/>
            </a:pPr>
            <a:r>
              <a:rPr b="1" lang="en-US" sz="2200">
                <a:latin typeface="Arial"/>
                <a:ea typeface="Arial"/>
                <a:cs typeface="Arial"/>
                <a:sym typeface="Arial"/>
              </a:rPr>
              <a:t>What role does emotion play before and after the ‘Murder of George Floyd’ event?</a:t>
            </a:r>
            <a:endParaRPr b="1" sz="2200">
              <a:latin typeface="Arial"/>
              <a:ea typeface="Arial"/>
              <a:cs typeface="Arial"/>
              <a:sym typeface="Arial"/>
            </a:endParaRPr>
          </a:p>
          <a:p>
            <a:pPr indent="0" lvl="0" marL="0" rtl="0" algn="l">
              <a:lnSpc>
                <a:spcPct val="115000"/>
              </a:lnSpc>
              <a:spcBef>
                <a:spcPts val="1200"/>
              </a:spcBef>
              <a:spcAft>
                <a:spcPts val="0"/>
              </a:spcAft>
              <a:buNone/>
            </a:pPr>
            <a:r>
              <a:t/>
            </a:r>
            <a:endParaRPr sz="1848">
              <a:latin typeface="Arial"/>
              <a:ea typeface="Arial"/>
              <a:cs typeface="Arial"/>
              <a:sym typeface="Arial"/>
            </a:endParaRPr>
          </a:p>
          <a:p>
            <a:pPr indent="0" lvl="0" marL="0" rtl="0" algn="l">
              <a:lnSpc>
                <a:spcPct val="115000"/>
              </a:lnSpc>
              <a:spcBef>
                <a:spcPts val="1200"/>
              </a:spcBef>
              <a:spcAft>
                <a:spcPts val="0"/>
              </a:spcAft>
              <a:buNone/>
            </a:pPr>
            <a:r>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b="1" sz="1600">
              <a:latin typeface="Arial"/>
              <a:ea typeface="Arial"/>
              <a:cs typeface="Arial"/>
              <a:sym typeface="Arial"/>
            </a:endParaRPr>
          </a:p>
          <a:p>
            <a:pPr indent="0" lvl="0" marL="0" rtl="0" algn="l">
              <a:lnSpc>
                <a:spcPct val="115000"/>
              </a:lnSpc>
              <a:spcBef>
                <a:spcPts val="1200"/>
              </a:spcBef>
              <a:spcAft>
                <a:spcPts val="0"/>
              </a:spcAft>
              <a:buNone/>
            </a:pPr>
            <a:r>
              <a:t/>
            </a:r>
            <a:endParaRPr sz="4122">
              <a:latin typeface="Arial"/>
              <a:ea typeface="Arial"/>
              <a:cs typeface="Arial"/>
              <a:sym typeface="Arial"/>
            </a:endParaRPr>
          </a:p>
          <a:p>
            <a:pPr indent="0" lvl="0" marL="0" rtl="0" algn="l">
              <a:lnSpc>
                <a:spcPct val="115000"/>
              </a:lnSpc>
              <a:spcBef>
                <a:spcPts val="2400"/>
              </a:spcBef>
              <a:spcAft>
                <a:spcPts val="0"/>
              </a:spcAft>
              <a:buNone/>
            </a:pPr>
            <a:r>
              <a:t/>
            </a:r>
            <a:endParaRPr/>
          </a:p>
          <a:p>
            <a:pPr indent="0" lvl="0" marL="0" rtl="0" algn="l">
              <a:lnSpc>
                <a:spcPct val="115000"/>
              </a:lnSpc>
              <a:spcBef>
                <a:spcPts val="2400"/>
              </a:spcBef>
              <a:spcAft>
                <a:spcPts val="0"/>
              </a:spcAft>
              <a:buNone/>
            </a:pPr>
            <a:r>
              <a:t/>
            </a:r>
            <a:endParaRPr/>
          </a:p>
          <a:p>
            <a:pPr indent="0" lvl="0" marL="0" rtl="0" algn="l">
              <a:lnSpc>
                <a:spcPct val="90000"/>
              </a:lnSpc>
              <a:spcBef>
                <a:spcPts val="1000"/>
              </a:spcBef>
              <a:spcAft>
                <a:spcPts val="0"/>
              </a:spcAft>
              <a:buNone/>
            </a:pPr>
            <a:r>
              <a:t/>
            </a:r>
            <a:endParaRPr/>
          </a:p>
        </p:txBody>
      </p:sp>
      <p:sp>
        <p:nvSpPr>
          <p:cNvPr id="125" name="Google Shape;125;g345d982277e_1_21"/>
          <p:cNvSpPr txBox="1"/>
          <p:nvPr/>
        </p:nvSpPr>
        <p:spPr>
          <a:xfrm>
            <a:off x="292575" y="2762900"/>
            <a:ext cx="5016900" cy="352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sz="1848">
              <a:solidFill>
                <a:schemeClr val="dk1"/>
              </a:solidFill>
            </a:endParaRPr>
          </a:p>
          <a:p>
            <a:pPr indent="0" lvl="0" marL="228600" rtl="0" algn="l">
              <a:lnSpc>
                <a:spcPct val="115000"/>
              </a:lnSpc>
              <a:spcBef>
                <a:spcPts val="1200"/>
              </a:spcBef>
              <a:spcAft>
                <a:spcPts val="0"/>
              </a:spcAft>
              <a:buNone/>
            </a:pPr>
            <a:r>
              <a:rPr lang="en-US" sz="1848">
                <a:solidFill>
                  <a:schemeClr val="dk1"/>
                </a:solidFill>
              </a:rPr>
              <a:t>•  </a:t>
            </a:r>
            <a:r>
              <a:rPr b="1" lang="en-US" sz="1848">
                <a:solidFill>
                  <a:schemeClr val="dk1"/>
                </a:solidFill>
              </a:rPr>
              <a:t>Emotion</a:t>
            </a:r>
            <a:r>
              <a:rPr lang="en-US" sz="1848">
                <a:solidFill>
                  <a:schemeClr val="dk1"/>
                </a:solidFill>
              </a:rPr>
              <a:t> can drive </a:t>
            </a:r>
            <a:r>
              <a:rPr b="1" lang="en-US" sz="1848">
                <a:solidFill>
                  <a:schemeClr val="dk1"/>
                </a:solidFill>
              </a:rPr>
              <a:t>attention</a:t>
            </a:r>
            <a:r>
              <a:rPr lang="en-US" sz="1848">
                <a:solidFill>
                  <a:schemeClr val="dk1"/>
                </a:solidFill>
              </a:rPr>
              <a:t>, </a:t>
            </a:r>
            <a:r>
              <a:rPr b="1" lang="en-US" sz="1848">
                <a:solidFill>
                  <a:schemeClr val="dk1"/>
                </a:solidFill>
              </a:rPr>
              <a:t>sharing</a:t>
            </a:r>
            <a:r>
              <a:rPr lang="en-US" sz="1848">
                <a:solidFill>
                  <a:schemeClr val="dk1"/>
                </a:solidFill>
              </a:rPr>
              <a:t>, and </a:t>
            </a:r>
            <a:r>
              <a:rPr b="1" lang="en-US" sz="1848">
                <a:solidFill>
                  <a:schemeClr val="dk1"/>
                </a:solidFill>
              </a:rPr>
              <a:t>mobilization.</a:t>
            </a:r>
            <a:endParaRPr b="1" sz="1848">
              <a:solidFill>
                <a:schemeClr val="dk1"/>
              </a:solidFill>
            </a:endParaRPr>
          </a:p>
          <a:p>
            <a:pPr indent="0" lvl="0" marL="228600" rtl="0" algn="l">
              <a:lnSpc>
                <a:spcPct val="115000"/>
              </a:lnSpc>
              <a:spcBef>
                <a:spcPts val="1200"/>
              </a:spcBef>
              <a:spcAft>
                <a:spcPts val="0"/>
              </a:spcAft>
              <a:buClr>
                <a:schemeClr val="dk1"/>
              </a:buClr>
              <a:buSzPts val="1100"/>
              <a:buFont typeface="Arial"/>
              <a:buNone/>
            </a:pPr>
            <a:r>
              <a:t/>
            </a:r>
            <a:endParaRPr b="1" sz="1848">
              <a:solidFill>
                <a:schemeClr val="dk1"/>
              </a:solidFill>
            </a:endParaRPr>
          </a:p>
          <a:p>
            <a:pPr indent="0" lvl="0" marL="228600" rtl="0" algn="l">
              <a:lnSpc>
                <a:spcPct val="115000"/>
              </a:lnSpc>
              <a:spcBef>
                <a:spcPts val="1200"/>
              </a:spcBef>
              <a:spcAft>
                <a:spcPts val="0"/>
              </a:spcAft>
              <a:buNone/>
            </a:pPr>
            <a:r>
              <a:rPr lang="en-US" sz="1848">
                <a:solidFill>
                  <a:schemeClr val="dk1"/>
                </a:solidFill>
              </a:rPr>
              <a:t>•  This protest included tweets with </a:t>
            </a:r>
            <a:r>
              <a:rPr b="1" lang="en-US" sz="1848">
                <a:solidFill>
                  <a:schemeClr val="dk1"/>
                </a:solidFill>
              </a:rPr>
              <a:t>diverse emotional types</a:t>
            </a:r>
            <a:r>
              <a:rPr lang="en-US" sz="1848">
                <a:solidFill>
                  <a:schemeClr val="dk1"/>
                </a:solidFill>
              </a:rPr>
              <a:t> and </a:t>
            </a:r>
            <a:r>
              <a:rPr b="1" lang="en-US" sz="1848">
                <a:solidFill>
                  <a:schemeClr val="dk1"/>
                </a:solidFill>
              </a:rPr>
              <a:t>intensities.</a:t>
            </a:r>
            <a:endParaRPr b="1" sz="1848">
              <a:solidFill>
                <a:schemeClr val="dk1"/>
              </a:solidFill>
            </a:endParaRPr>
          </a:p>
          <a:p>
            <a:pPr indent="0" lvl="0" marL="228600" rtl="0" algn="l">
              <a:lnSpc>
                <a:spcPct val="115000"/>
              </a:lnSpc>
              <a:spcBef>
                <a:spcPts val="1200"/>
              </a:spcBef>
              <a:spcAft>
                <a:spcPts val="0"/>
              </a:spcAft>
              <a:buNone/>
            </a:pPr>
            <a:r>
              <a:t/>
            </a:r>
            <a:endParaRPr sz="1848">
              <a:solidFill>
                <a:schemeClr val="dk1"/>
              </a:solidFill>
            </a:endParaRPr>
          </a:p>
          <a:p>
            <a:pPr indent="0" lvl="0" marL="228600" rtl="0" algn="l">
              <a:lnSpc>
                <a:spcPct val="115000"/>
              </a:lnSpc>
              <a:spcBef>
                <a:spcPts val="1200"/>
              </a:spcBef>
              <a:spcAft>
                <a:spcPts val="1200"/>
              </a:spcAft>
              <a:buClr>
                <a:schemeClr val="dk1"/>
              </a:buClr>
              <a:buSzPts val="1100"/>
              <a:buFont typeface="Arial"/>
              <a:buNone/>
            </a:pPr>
            <a:r>
              <a:t/>
            </a:r>
            <a:endParaRPr b="1" sz="1848">
              <a:solidFill>
                <a:schemeClr val="dk1"/>
              </a:solidFill>
            </a:endParaRPr>
          </a:p>
        </p:txBody>
      </p:sp>
      <p:pic>
        <p:nvPicPr>
          <p:cNvPr id="126" name="Google Shape;126;g345d982277e_1_21"/>
          <p:cNvPicPr preferRelativeResize="0"/>
          <p:nvPr/>
        </p:nvPicPr>
        <p:blipFill>
          <a:blip r:embed="rId3">
            <a:alphaModFix/>
          </a:blip>
          <a:stretch>
            <a:fillRect/>
          </a:stretch>
        </p:blipFill>
        <p:spPr>
          <a:xfrm>
            <a:off x="5858050" y="2557175"/>
            <a:ext cx="5578076" cy="3718725"/>
          </a:xfrm>
          <a:prstGeom prst="rect">
            <a:avLst/>
          </a:prstGeom>
          <a:noFill/>
          <a:ln>
            <a:noFill/>
          </a:ln>
        </p:spPr>
      </p:pic>
      <p:sp>
        <p:nvSpPr>
          <p:cNvPr id="127" name="Google Shape;127;g345d982277e_1_21"/>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6</a:t>
            </a:r>
            <a:endParaRPr sz="900">
              <a:solidFill>
                <a:srgbClr val="888888"/>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343bd23a7fb_2_14"/>
          <p:cNvSpPr txBox="1"/>
          <p:nvPr>
            <p:ph type="title"/>
          </p:nvPr>
        </p:nvSpPr>
        <p:spPr>
          <a:xfrm>
            <a:off x="-2276675" y="374580"/>
            <a:ext cx="10515600" cy="11121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Research </a:t>
            </a:r>
            <a:r>
              <a:rPr lang="en-US"/>
              <a:t>Question 2</a:t>
            </a:r>
            <a:r>
              <a:rPr lang="en-US"/>
              <a:t>:</a:t>
            </a:r>
            <a:endParaRPr/>
          </a:p>
        </p:txBody>
      </p:sp>
      <p:sp>
        <p:nvSpPr>
          <p:cNvPr id="133" name="Google Shape;133;g343bd23a7fb_2_14"/>
          <p:cNvSpPr txBox="1"/>
          <p:nvPr>
            <p:ph idx="1" type="body"/>
          </p:nvPr>
        </p:nvSpPr>
        <p:spPr>
          <a:xfrm>
            <a:off x="520800" y="1730475"/>
            <a:ext cx="11671200" cy="50214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1200"/>
              </a:spcBef>
              <a:spcAft>
                <a:spcPts val="0"/>
              </a:spcAft>
              <a:buNone/>
            </a:pPr>
            <a:r>
              <a:rPr b="1" lang="en-US" sz="2200">
                <a:latin typeface="Arial"/>
                <a:ea typeface="Arial"/>
                <a:cs typeface="Arial"/>
                <a:sym typeface="Arial"/>
              </a:rPr>
              <a:t>How does the network structure change in online mobilization before and after a focusing event?</a:t>
            </a:r>
            <a:endParaRPr b="1" sz="2200">
              <a:latin typeface="Arial"/>
              <a:ea typeface="Arial"/>
              <a:cs typeface="Arial"/>
              <a:sym typeface="Arial"/>
            </a:endParaRPr>
          </a:p>
          <a:p>
            <a:pPr indent="0" lvl="0" marL="0" rtl="0" algn="l">
              <a:lnSpc>
                <a:spcPct val="115000"/>
              </a:lnSpc>
              <a:spcBef>
                <a:spcPts val="1200"/>
              </a:spcBef>
              <a:spcAft>
                <a:spcPts val="0"/>
              </a:spcAft>
              <a:buNone/>
            </a:pPr>
            <a:r>
              <a:t/>
            </a:r>
            <a:endParaRPr sz="1848">
              <a:latin typeface="Arial"/>
              <a:ea typeface="Arial"/>
              <a:cs typeface="Arial"/>
              <a:sym typeface="Arial"/>
            </a:endParaRPr>
          </a:p>
          <a:p>
            <a:pPr indent="0" lvl="0" marL="0" rtl="0" algn="l">
              <a:lnSpc>
                <a:spcPct val="115000"/>
              </a:lnSpc>
              <a:spcBef>
                <a:spcPts val="1200"/>
              </a:spcBef>
              <a:spcAft>
                <a:spcPts val="0"/>
              </a:spcAft>
              <a:buNone/>
            </a:pPr>
            <a:r>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b="1" sz="1600">
              <a:latin typeface="Arial"/>
              <a:ea typeface="Arial"/>
              <a:cs typeface="Arial"/>
              <a:sym typeface="Arial"/>
            </a:endParaRPr>
          </a:p>
          <a:p>
            <a:pPr indent="0" lvl="0" marL="0" rtl="0" algn="l">
              <a:lnSpc>
                <a:spcPct val="115000"/>
              </a:lnSpc>
              <a:spcBef>
                <a:spcPts val="1200"/>
              </a:spcBef>
              <a:spcAft>
                <a:spcPts val="0"/>
              </a:spcAft>
              <a:buNone/>
            </a:pPr>
            <a:r>
              <a:t/>
            </a:r>
            <a:endParaRPr sz="4122">
              <a:latin typeface="Arial"/>
              <a:ea typeface="Arial"/>
              <a:cs typeface="Arial"/>
              <a:sym typeface="Arial"/>
            </a:endParaRPr>
          </a:p>
          <a:p>
            <a:pPr indent="0" lvl="0" marL="0" rtl="0" algn="l">
              <a:lnSpc>
                <a:spcPct val="115000"/>
              </a:lnSpc>
              <a:spcBef>
                <a:spcPts val="2400"/>
              </a:spcBef>
              <a:spcAft>
                <a:spcPts val="0"/>
              </a:spcAft>
              <a:buNone/>
            </a:pPr>
            <a:r>
              <a:t/>
            </a:r>
            <a:endParaRPr/>
          </a:p>
          <a:p>
            <a:pPr indent="0" lvl="0" marL="0" rtl="0" algn="l">
              <a:lnSpc>
                <a:spcPct val="115000"/>
              </a:lnSpc>
              <a:spcBef>
                <a:spcPts val="2400"/>
              </a:spcBef>
              <a:spcAft>
                <a:spcPts val="0"/>
              </a:spcAft>
              <a:buNone/>
            </a:pPr>
            <a:r>
              <a:t/>
            </a:r>
            <a:endParaRPr/>
          </a:p>
          <a:p>
            <a:pPr indent="0" lvl="0" marL="0" rtl="0" algn="l">
              <a:lnSpc>
                <a:spcPct val="90000"/>
              </a:lnSpc>
              <a:spcBef>
                <a:spcPts val="1000"/>
              </a:spcBef>
              <a:spcAft>
                <a:spcPts val="0"/>
              </a:spcAft>
              <a:buNone/>
            </a:pPr>
            <a:r>
              <a:t/>
            </a:r>
            <a:endParaRPr/>
          </a:p>
        </p:txBody>
      </p:sp>
      <p:sp>
        <p:nvSpPr>
          <p:cNvPr id="134" name="Google Shape;134;g343bd23a7fb_2_14"/>
          <p:cNvSpPr txBox="1"/>
          <p:nvPr/>
        </p:nvSpPr>
        <p:spPr>
          <a:xfrm>
            <a:off x="786375" y="3057750"/>
            <a:ext cx="5139000" cy="2586600"/>
          </a:xfrm>
          <a:prstGeom prst="rect">
            <a:avLst/>
          </a:prstGeom>
          <a:noFill/>
          <a:ln>
            <a:noFill/>
          </a:ln>
        </p:spPr>
        <p:txBody>
          <a:bodyPr anchorCtr="0" anchor="t" bIns="91425" lIns="91425" spcFirstLastPara="1" rIns="91425" wrap="square" tIns="91425">
            <a:spAutoFit/>
          </a:bodyPr>
          <a:lstStyle/>
          <a:p>
            <a:pPr indent="0" lvl="0" marL="228600" rtl="0" algn="l">
              <a:lnSpc>
                <a:spcPct val="115000"/>
              </a:lnSpc>
              <a:spcBef>
                <a:spcPts val="1200"/>
              </a:spcBef>
              <a:spcAft>
                <a:spcPts val="0"/>
              </a:spcAft>
              <a:buNone/>
            </a:pPr>
            <a:r>
              <a:rPr lang="en-US" sz="1848">
                <a:solidFill>
                  <a:schemeClr val="dk1"/>
                </a:solidFill>
              </a:rPr>
              <a:t>• </a:t>
            </a:r>
            <a:r>
              <a:rPr b="1" lang="en-US" sz="1848">
                <a:solidFill>
                  <a:schemeClr val="dk1"/>
                </a:solidFill>
              </a:rPr>
              <a:t>Tweets </a:t>
            </a:r>
            <a:r>
              <a:rPr lang="en-US" sz="1848">
                <a:solidFill>
                  <a:schemeClr val="dk1"/>
                </a:solidFill>
              </a:rPr>
              <a:t>and</a:t>
            </a:r>
            <a:r>
              <a:rPr b="1" lang="en-US" sz="1848">
                <a:solidFill>
                  <a:schemeClr val="dk1"/>
                </a:solidFill>
              </a:rPr>
              <a:t> retweets </a:t>
            </a:r>
            <a:r>
              <a:rPr lang="en-US" sz="1848">
                <a:solidFill>
                  <a:schemeClr val="dk1"/>
                </a:solidFill>
              </a:rPr>
              <a:t>form a visible, connected</a:t>
            </a:r>
            <a:r>
              <a:rPr b="1" lang="en-US" sz="1848">
                <a:solidFill>
                  <a:schemeClr val="dk1"/>
                </a:solidFill>
              </a:rPr>
              <a:t> network</a:t>
            </a:r>
            <a:r>
              <a:rPr lang="en-US" sz="1848">
                <a:solidFill>
                  <a:schemeClr val="dk1"/>
                </a:solidFill>
              </a:rPr>
              <a:t>, not isolated data points.</a:t>
            </a:r>
            <a:endParaRPr sz="1848">
              <a:solidFill>
                <a:schemeClr val="dk1"/>
              </a:solidFill>
            </a:endParaRPr>
          </a:p>
          <a:p>
            <a:pPr indent="0" lvl="0" marL="228600" rtl="0" algn="l">
              <a:lnSpc>
                <a:spcPct val="115000"/>
              </a:lnSpc>
              <a:spcBef>
                <a:spcPts val="1200"/>
              </a:spcBef>
              <a:spcAft>
                <a:spcPts val="1200"/>
              </a:spcAft>
              <a:buNone/>
            </a:pPr>
            <a:br>
              <a:rPr lang="en-US" sz="1848">
                <a:solidFill>
                  <a:schemeClr val="dk1"/>
                </a:solidFill>
              </a:rPr>
            </a:br>
            <a:r>
              <a:rPr lang="en-US" sz="1848">
                <a:solidFill>
                  <a:schemeClr val="dk1"/>
                </a:solidFill>
              </a:rPr>
              <a:t>•</a:t>
            </a:r>
            <a:r>
              <a:rPr lang="en-US" sz="1848">
                <a:solidFill>
                  <a:schemeClr val="dk1"/>
                </a:solidFill>
              </a:rPr>
              <a:t> After the event, the majority of retweets occurred on posts by a small number of users, indicating a highly </a:t>
            </a:r>
            <a:r>
              <a:rPr b="1" lang="en-US" sz="1848">
                <a:solidFill>
                  <a:schemeClr val="dk1"/>
                </a:solidFill>
              </a:rPr>
              <a:t>concentrated pattern of retweeting</a:t>
            </a:r>
            <a:r>
              <a:rPr lang="en-US" sz="1848">
                <a:solidFill>
                  <a:schemeClr val="dk1"/>
                </a:solidFill>
              </a:rPr>
              <a:t>.</a:t>
            </a:r>
            <a:endParaRPr/>
          </a:p>
        </p:txBody>
      </p:sp>
      <p:pic>
        <p:nvPicPr>
          <p:cNvPr id="135" name="Google Shape;135;g343bd23a7fb_2_14"/>
          <p:cNvPicPr preferRelativeResize="0"/>
          <p:nvPr/>
        </p:nvPicPr>
        <p:blipFill>
          <a:blip r:embed="rId3">
            <a:alphaModFix/>
          </a:blip>
          <a:stretch>
            <a:fillRect/>
          </a:stretch>
        </p:blipFill>
        <p:spPr>
          <a:xfrm>
            <a:off x="6561125" y="2488000"/>
            <a:ext cx="3905250" cy="3895725"/>
          </a:xfrm>
          <a:prstGeom prst="rect">
            <a:avLst/>
          </a:prstGeom>
          <a:noFill/>
          <a:ln>
            <a:noFill/>
          </a:ln>
        </p:spPr>
      </p:pic>
      <p:sp>
        <p:nvSpPr>
          <p:cNvPr id="136" name="Google Shape;136;g343bd23a7fb_2_14"/>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7</a:t>
            </a:r>
            <a:endParaRPr sz="900">
              <a:solidFill>
                <a:srgbClr val="888888"/>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345d982277e_1_30"/>
          <p:cNvSpPr txBox="1"/>
          <p:nvPr>
            <p:ph type="title"/>
          </p:nvPr>
        </p:nvSpPr>
        <p:spPr>
          <a:xfrm>
            <a:off x="504950" y="345105"/>
            <a:ext cx="10515600" cy="1048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2250">
                <a:latin typeface="Arial"/>
                <a:ea typeface="Arial"/>
                <a:cs typeface="Arial"/>
                <a:sym typeface="Arial"/>
              </a:rPr>
              <a:t>Question 1: What role does emotion play before and after the ‘Murder of George Floyd’ event?</a:t>
            </a:r>
            <a:endParaRPr b="1" sz="2250">
              <a:latin typeface="Arial"/>
              <a:ea typeface="Arial"/>
              <a:cs typeface="Arial"/>
              <a:sym typeface="Arial"/>
            </a:endParaRPr>
          </a:p>
        </p:txBody>
      </p:sp>
      <p:sp>
        <p:nvSpPr>
          <p:cNvPr id="142" name="Google Shape;142;g345d982277e_1_30"/>
          <p:cNvSpPr txBox="1"/>
          <p:nvPr>
            <p:ph idx="1" type="body"/>
          </p:nvPr>
        </p:nvSpPr>
        <p:spPr>
          <a:xfrm>
            <a:off x="620000" y="1690725"/>
            <a:ext cx="9990000" cy="5021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b="1" lang="en-US" sz="1900"/>
              <a:t>Definite emotion and intensity:</a:t>
            </a:r>
            <a:endParaRPr b="1" sz="1900">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n-US" sz="1900">
                <a:latin typeface="Arial"/>
                <a:ea typeface="Arial"/>
                <a:cs typeface="Arial"/>
                <a:sym typeface="Arial"/>
              </a:rPr>
              <a:t>Emotion classification based on the </a:t>
            </a:r>
            <a:r>
              <a:rPr b="1" lang="en-US" sz="1900">
                <a:latin typeface="Arial"/>
                <a:ea typeface="Arial"/>
                <a:cs typeface="Arial"/>
                <a:sym typeface="Arial"/>
              </a:rPr>
              <a:t>six basic emotions theory</a:t>
            </a:r>
            <a:r>
              <a:rPr lang="en-US" sz="1900">
                <a:latin typeface="Arial"/>
                <a:ea typeface="Arial"/>
                <a:cs typeface="Arial"/>
                <a:sym typeface="Arial"/>
              </a:rPr>
              <a:t> (</a:t>
            </a:r>
            <a:r>
              <a:rPr i="1" lang="en-US" sz="1900">
                <a:latin typeface="Arial"/>
                <a:ea typeface="Arial"/>
                <a:cs typeface="Arial"/>
                <a:sym typeface="Arial"/>
              </a:rPr>
              <a:t>Ekman, 1992</a:t>
            </a:r>
            <a:r>
              <a:rPr lang="en-US" sz="1900">
                <a:latin typeface="Arial"/>
                <a:ea typeface="Arial"/>
                <a:cs typeface="Arial"/>
                <a:sym typeface="Arial"/>
              </a:rPr>
              <a:t>):</a:t>
            </a:r>
            <a:br>
              <a:rPr lang="en-US" sz="1900">
                <a:latin typeface="Arial"/>
                <a:ea typeface="Arial"/>
                <a:cs typeface="Arial"/>
                <a:sym typeface="Arial"/>
              </a:rPr>
            </a:br>
            <a:r>
              <a:rPr lang="en-US" sz="1900">
                <a:latin typeface="Arial"/>
                <a:ea typeface="Arial"/>
                <a:cs typeface="Arial"/>
                <a:sym typeface="Arial"/>
              </a:rPr>
              <a:t> </a:t>
            </a:r>
            <a:r>
              <a:rPr b="1" lang="en-US" sz="1900">
                <a:latin typeface="Arial"/>
                <a:ea typeface="Arial"/>
                <a:cs typeface="Arial"/>
                <a:sym typeface="Arial"/>
              </a:rPr>
              <a:t>Joy, sadness, anger, fear, disgust, surprise.</a:t>
            </a:r>
            <a:endParaRPr b="1" sz="1900">
              <a:latin typeface="Arial"/>
              <a:ea typeface="Arial"/>
              <a:cs typeface="Arial"/>
              <a:sym typeface="Arial"/>
            </a:endParaRPr>
          </a:p>
          <a:p>
            <a:pPr indent="0" lvl="0" marL="0" rtl="0" algn="l">
              <a:lnSpc>
                <a:spcPct val="115000"/>
              </a:lnSpc>
              <a:spcBef>
                <a:spcPts val="1200"/>
              </a:spcBef>
              <a:spcAft>
                <a:spcPts val="0"/>
              </a:spcAft>
              <a:buNone/>
            </a:pPr>
            <a:r>
              <a:t/>
            </a:r>
            <a:endParaRPr b="1" sz="1900">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n-US" sz="1900">
                <a:latin typeface="Arial"/>
                <a:ea typeface="Arial"/>
                <a:cs typeface="Arial"/>
                <a:sym typeface="Arial"/>
              </a:rPr>
              <a:t>Emotion </a:t>
            </a:r>
            <a:r>
              <a:rPr b="1" lang="en-US" sz="1900">
                <a:latin typeface="Arial"/>
                <a:ea typeface="Arial"/>
                <a:cs typeface="Arial"/>
                <a:sym typeface="Arial"/>
              </a:rPr>
              <a:t>intensity scored 0–1</a:t>
            </a:r>
            <a:r>
              <a:rPr lang="en-US" sz="1900">
                <a:latin typeface="Arial"/>
                <a:ea typeface="Arial"/>
                <a:cs typeface="Arial"/>
                <a:sym typeface="Arial"/>
              </a:rPr>
              <a:t>. The emotion that has highest intensity is the “</a:t>
            </a:r>
            <a:r>
              <a:rPr b="1" lang="en-US" sz="1900">
                <a:latin typeface="Arial"/>
                <a:ea typeface="Arial"/>
                <a:cs typeface="Arial"/>
                <a:sym typeface="Arial"/>
              </a:rPr>
              <a:t>dominant emotion</a:t>
            </a:r>
            <a:r>
              <a:rPr lang="en-US" sz="1900">
                <a:latin typeface="Arial"/>
                <a:ea typeface="Arial"/>
                <a:cs typeface="Arial"/>
                <a:sym typeface="Arial"/>
              </a:rPr>
              <a:t>” of the post.</a:t>
            </a:r>
            <a:endParaRPr sz="1900">
              <a:latin typeface="Arial"/>
              <a:ea typeface="Arial"/>
              <a:cs typeface="Arial"/>
              <a:sym typeface="Arial"/>
            </a:endParaRPr>
          </a:p>
          <a:p>
            <a:pPr indent="0" lvl="0" marL="0" rtl="0" algn="l">
              <a:lnSpc>
                <a:spcPct val="115000"/>
              </a:lnSpc>
              <a:spcBef>
                <a:spcPts val="1400"/>
              </a:spcBef>
              <a:spcAft>
                <a:spcPts val="0"/>
              </a:spcAft>
              <a:buNone/>
            </a:pPr>
            <a:r>
              <a:t/>
            </a:r>
            <a:endParaRPr b="1" sz="1900">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n-US" sz="1900">
                <a:latin typeface="Arial"/>
                <a:ea typeface="Arial"/>
                <a:cs typeface="Arial"/>
                <a:sym typeface="Arial"/>
              </a:rPr>
              <a:t>Annotated using </a:t>
            </a:r>
            <a:r>
              <a:rPr b="1" lang="en-US" sz="1900">
                <a:latin typeface="Arial"/>
                <a:ea typeface="Arial"/>
                <a:cs typeface="Arial"/>
                <a:sym typeface="Arial"/>
              </a:rPr>
              <a:t>LLM (DeepSeek-V3)</a:t>
            </a:r>
            <a:r>
              <a:rPr lang="en-US" sz="1900">
                <a:latin typeface="Arial"/>
                <a:ea typeface="Arial"/>
                <a:cs typeface="Arial"/>
                <a:sym typeface="Arial"/>
              </a:rPr>
              <a:t>, then manually verified with </a:t>
            </a:r>
            <a:r>
              <a:rPr b="1" lang="en-US" sz="1900">
                <a:latin typeface="Arial"/>
                <a:ea typeface="Arial"/>
                <a:cs typeface="Arial"/>
                <a:sym typeface="Arial"/>
              </a:rPr>
              <a:t>~87% accuracy</a:t>
            </a:r>
            <a:endParaRPr sz="1900">
              <a:latin typeface="Arial"/>
              <a:ea typeface="Arial"/>
              <a:cs typeface="Arial"/>
              <a:sym typeface="Arial"/>
            </a:endParaRPr>
          </a:p>
        </p:txBody>
      </p:sp>
      <p:sp>
        <p:nvSpPr>
          <p:cNvPr id="143" name="Google Shape;143;g345d982277e_1_30"/>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8</a:t>
            </a:r>
            <a:endParaRPr sz="900">
              <a:solidFill>
                <a:srgbClr val="8888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463cbfe385_0_9"/>
          <p:cNvSpPr txBox="1"/>
          <p:nvPr>
            <p:ph type="title"/>
          </p:nvPr>
        </p:nvSpPr>
        <p:spPr>
          <a:xfrm>
            <a:off x="504950" y="345105"/>
            <a:ext cx="10515600" cy="1048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2250">
                <a:latin typeface="Arial"/>
                <a:ea typeface="Arial"/>
                <a:cs typeface="Arial"/>
                <a:sym typeface="Arial"/>
              </a:rPr>
              <a:t>Question 1: What role does emotion-intensity play before and after the ‘Murder of George Floyd’ incident?</a:t>
            </a:r>
            <a:endParaRPr b="1" sz="2250">
              <a:latin typeface="Arial"/>
              <a:ea typeface="Arial"/>
              <a:cs typeface="Arial"/>
              <a:sym typeface="Arial"/>
            </a:endParaRPr>
          </a:p>
        </p:txBody>
      </p:sp>
      <p:sp>
        <p:nvSpPr>
          <p:cNvPr id="149" name="Google Shape;149;g3463cbfe385_0_9"/>
          <p:cNvSpPr txBox="1"/>
          <p:nvPr>
            <p:ph idx="1" type="body"/>
          </p:nvPr>
        </p:nvSpPr>
        <p:spPr>
          <a:xfrm>
            <a:off x="558050" y="1243750"/>
            <a:ext cx="9990000" cy="502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1600">
                <a:latin typeface="Arial"/>
                <a:ea typeface="Arial"/>
                <a:cs typeface="Arial"/>
                <a:sym typeface="Arial"/>
              </a:rPr>
              <a:t>DeepSeek-V3 Prompt:</a:t>
            </a:r>
            <a:endParaRPr b="1" sz="16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"Analyze the following tweet text using Ekman's six basic emotions model (anger, disgust, fear, joy, sadness, surprise) and their intensities, and identify the framing strategy.</a:t>
            </a:r>
            <a:endParaRPr sz="16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Classify each emotion with a </a:t>
            </a:r>
            <a:r>
              <a:rPr b="1" lang="en-US" sz="1600">
                <a:latin typeface="Arial"/>
                <a:ea typeface="Arial"/>
                <a:cs typeface="Arial"/>
                <a:sym typeface="Arial"/>
              </a:rPr>
              <a:t>0.0-1.0 scale</a:t>
            </a:r>
            <a:r>
              <a:rPr lang="en-US" sz="1600">
                <a:latin typeface="Arial"/>
                <a:ea typeface="Arial"/>
                <a:cs typeface="Arial"/>
                <a:sym typeface="Arial"/>
              </a:rPr>
              <a:t>:</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b="1" lang="en-US" sz="1600">
                <a:latin typeface="Arial"/>
                <a:ea typeface="Arial"/>
                <a:cs typeface="Arial"/>
                <a:sym typeface="Arial"/>
              </a:rPr>
              <a:t>0.0</a:t>
            </a:r>
            <a:r>
              <a:rPr lang="en-US" sz="1600">
                <a:latin typeface="Arial"/>
                <a:ea typeface="Arial"/>
                <a:cs typeface="Arial"/>
                <a:sym typeface="Arial"/>
              </a:rPr>
              <a:t> = none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600">
                <a:latin typeface="Arial"/>
                <a:ea typeface="Arial"/>
                <a:cs typeface="Arial"/>
                <a:sym typeface="Arial"/>
              </a:rPr>
              <a:t>0.1–0.3</a:t>
            </a:r>
            <a:r>
              <a:rPr lang="en-US" sz="1600">
                <a:latin typeface="Arial"/>
                <a:ea typeface="Arial"/>
                <a:cs typeface="Arial"/>
                <a:sym typeface="Arial"/>
              </a:rPr>
              <a:t> = mild</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600">
                <a:latin typeface="Arial"/>
                <a:ea typeface="Arial"/>
                <a:cs typeface="Arial"/>
                <a:sym typeface="Arial"/>
              </a:rPr>
              <a:t>0.4–0.6</a:t>
            </a:r>
            <a:r>
              <a:rPr lang="en-US" sz="1600">
                <a:latin typeface="Arial"/>
                <a:ea typeface="Arial"/>
                <a:cs typeface="Arial"/>
                <a:sym typeface="Arial"/>
              </a:rPr>
              <a:t> = moderate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600">
                <a:latin typeface="Arial"/>
                <a:ea typeface="Arial"/>
                <a:cs typeface="Arial"/>
                <a:sym typeface="Arial"/>
              </a:rPr>
              <a:t>0.7–0.9</a:t>
            </a:r>
            <a:r>
              <a:rPr lang="en-US" sz="1600">
                <a:latin typeface="Arial"/>
                <a:ea typeface="Arial"/>
                <a:cs typeface="Arial"/>
                <a:sym typeface="Arial"/>
              </a:rPr>
              <a:t> = strong</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600">
                <a:latin typeface="Arial"/>
                <a:ea typeface="Arial"/>
                <a:cs typeface="Arial"/>
                <a:sym typeface="Arial"/>
              </a:rPr>
              <a:t>1.0</a:t>
            </a:r>
            <a:r>
              <a:rPr lang="en-US" sz="1600">
                <a:latin typeface="Arial"/>
                <a:ea typeface="Arial"/>
                <a:cs typeface="Arial"/>
                <a:sym typeface="Arial"/>
              </a:rPr>
              <a:t> = extreme</a:t>
            </a:r>
            <a:endParaRPr sz="1600">
              <a:latin typeface="Arial"/>
              <a:ea typeface="Arial"/>
              <a:cs typeface="Arial"/>
              <a:sym typeface="Arial"/>
            </a:endParaRPr>
          </a:p>
          <a:p>
            <a:pPr indent="0" lvl="0" marL="0" rtl="0" algn="l">
              <a:lnSpc>
                <a:spcPct val="115000"/>
              </a:lnSpc>
              <a:spcBef>
                <a:spcPts val="1200"/>
              </a:spcBef>
              <a:spcAft>
                <a:spcPts val="0"/>
              </a:spcAft>
              <a:buNone/>
            </a:pPr>
            <a:r>
              <a:rPr lang="en-US" sz="1600">
                <a:latin typeface="Arial"/>
                <a:ea typeface="Arial"/>
                <a:cs typeface="Arial"/>
                <a:sym typeface="Arial"/>
              </a:rPr>
              <a:t>Example:... “</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sz="14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OpenAI. (2023). </a:t>
            </a:r>
            <a:r>
              <a:rPr i="1" lang="en-US" sz="1100">
                <a:latin typeface="Arial"/>
                <a:ea typeface="Arial"/>
                <a:cs typeface="Arial"/>
                <a:sym typeface="Arial"/>
              </a:rPr>
              <a:t>Best practices for prompt engineering with the OpenAI API</a:t>
            </a:r>
            <a:endParaRPr sz="1400">
              <a:latin typeface="Arial"/>
              <a:ea typeface="Arial"/>
              <a:cs typeface="Arial"/>
              <a:sym typeface="Arial"/>
            </a:endParaRPr>
          </a:p>
          <a:p>
            <a:pPr indent="0" lvl="0" marL="0" rtl="0" algn="l">
              <a:lnSpc>
                <a:spcPct val="115000"/>
              </a:lnSpc>
              <a:spcBef>
                <a:spcPts val="1200"/>
              </a:spcBef>
              <a:spcAft>
                <a:spcPts val="1200"/>
              </a:spcAft>
              <a:buNone/>
            </a:pPr>
            <a:br>
              <a:rPr lang="en-US" sz="1400">
                <a:latin typeface="Arial"/>
                <a:ea typeface="Arial"/>
                <a:cs typeface="Arial"/>
                <a:sym typeface="Arial"/>
              </a:rPr>
            </a:br>
            <a:endParaRPr b="1" sz="1400"/>
          </a:p>
        </p:txBody>
      </p:sp>
      <p:sp>
        <p:nvSpPr>
          <p:cNvPr id="150" name="Google Shape;150;g3463cbfe385_0_9"/>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9</a:t>
            </a:r>
            <a:endParaRPr sz="900">
              <a:solidFill>
                <a:srgbClr val="888888"/>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45d982277e_1_188"/>
          <p:cNvSpPr txBox="1"/>
          <p:nvPr>
            <p:ph type="title"/>
          </p:nvPr>
        </p:nvSpPr>
        <p:spPr>
          <a:xfrm>
            <a:off x="504950" y="345105"/>
            <a:ext cx="10515600" cy="1048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2250">
                <a:latin typeface="Arial"/>
                <a:ea typeface="Arial"/>
                <a:cs typeface="Arial"/>
                <a:sym typeface="Arial"/>
              </a:rPr>
              <a:t>Question 1: What role does emotion-intensity play before and after the ‘Murder of George Floyd’ incident?</a:t>
            </a:r>
            <a:endParaRPr b="1" sz="2250">
              <a:latin typeface="Arial"/>
              <a:ea typeface="Arial"/>
              <a:cs typeface="Arial"/>
              <a:sym typeface="Arial"/>
            </a:endParaRPr>
          </a:p>
        </p:txBody>
      </p:sp>
      <p:sp>
        <p:nvSpPr>
          <p:cNvPr id="156" name="Google Shape;156;g345d982277e_1_188"/>
          <p:cNvSpPr txBox="1"/>
          <p:nvPr>
            <p:ph idx="1" type="body"/>
          </p:nvPr>
        </p:nvSpPr>
        <p:spPr>
          <a:xfrm>
            <a:off x="558050" y="1319950"/>
            <a:ext cx="11237700" cy="50214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1200">
                <a:latin typeface="Arial"/>
                <a:ea typeface="Arial"/>
                <a:cs typeface="Arial"/>
                <a:sym typeface="Arial"/>
              </a:rPr>
              <a:t>Exa</a:t>
            </a:r>
            <a:r>
              <a:rPr b="1" lang="en-US" sz="1400">
                <a:latin typeface="Arial"/>
                <a:ea typeface="Arial"/>
                <a:cs typeface="Arial"/>
                <a:sym typeface="Arial"/>
              </a:rPr>
              <a:t>mple…</a:t>
            </a:r>
            <a:endParaRPr b="1" sz="1400">
              <a:latin typeface="Arial"/>
              <a:ea typeface="Arial"/>
              <a:cs typeface="Arial"/>
              <a:sym typeface="Arial"/>
            </a:endParaRPr>
          </a:p>
          <a:p>
            <a:pPr indent="0" lvl="0" marL="0" rtl="0" algn="l">
              <a:lnSpc>
                <a:spcPct val="115000"/>
              </a:lnSpc>
              <a:spcBef>
                <a:spcPts val="1200"/>
              </a:spcBef>
              <a:spcAft>
                <a:spcPts val="0"/>
              </a:spcAft>
              <a:buNone/>
            </a:pPr>
            <a:r>
              <a:rPr b="1" lang="en-US" sz="1400">
                <a:latin typeface="Arial"/>
                <a:ea typeface="Arial"/>
                <a:cs typeface="Arial"/>
                <a:sym typeface="Arial"/>
              </a:rPr>
              <a:t>Content:</a:t>
            </a:r>
            <a:br>
              <a:rPr b="1" lang="en-US" sz="1400">
                <a:latin typeface="Arial"/>
                <a:ea typeface="Arial"/>
                <a:cs typeface="Arial"/>
                <a:sym typeface="Arial"/>
              </a:rPr>
            </a:br>
            <a:r>
              <a:rPr lang="en-US" sz="1400">
                <a:latin typeface="Arial"/>
                <a:ea typeface="Arial"/>
                <a:cs typeface="Arial"/>
                <a:sym typeface="Arial"/>
              </a:rPr>
              <a:t> "In Louisville, Black Lives Matter organization is purchasing vacant homes for low-income families to promote stability in the community and fight gentrification."</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4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400">
                <a:latin typeface="Arial"/>
                <a:ea typeface="Arial"/>
                <a:cs typeface="Arial"/>
                <a:sym typeface="Arial"/>
              </a:rPr>
              <a:t>Emotion Analysis:</a:t>
            </a:r>
            <a:endParaRPr b="1"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b="1" lang="en-US" sz="1400">
                <a:latin typeface="Arial"/>
                <a:ea typeface="Arial"/>
                <a:cs typeface="Arial"/>
                <a:sym typeface="Arial"/>
              </a:rPr>
              <a:t>Anger</a:t>
            </a:r>
            <a:r>
              <a:rPr lang="en-US" sz="1400">
                <a:latin typeface="Arial"/>
                <a:ea typeface="Arial"/>
                <a:cs typeface="Arial"/>
                <a:sym typeface="Arial"/>
              </a:rPr>
              <a:t>: 0.0</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US" sz="1400">
                <a:latin typeface="Arial"/>
                <a:ea typeface="Arial"/>
                <a:cs typeface="Arial"/>
                <a:sym typeface="Arial"/>
              </a:rPr>
              <a:t>Disgust</a:t>
            </a:r>
            <a:r>
              <a:rPr lang="en-US" sz="1400">
                <a:latin typeface="Arial"/>
                <a:ea typeface="Arial"/>
                <a:cs typeface="Arial"/>
                <a:sym typeface="Arial"/>
              </a:rPr>
              <a:t>: 0.0</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US" sz="1400">
                <a:latin typeface="Arial"/>
                <a:ea typeface="Arial"/>
                <a:cs typeface="Arial"/>
                <a:sym typeface="Arial"/>
              </a:rPr>
              <a:t>Fear</a:t>
            </a:r>
            <a:r>
              <a:rPr lang="en-US" sz="1400">
                <a:latin typeface="Arial"/>
                <a:ea typeface="Arial"/>
                <a:cs typeface="Arial"/>
                <a:sym typeface="Arial"/>
              </a:rPr>
              <a:t>: 0.0</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US" sz="1400">
                <a:latin typeface="Arial"/>
                <a:ea typeface="Arial"/>
                <a:cs typeface="Arial"/>
                <a:sym typeface="Arial"/>
              </a:rPr>
              <a:t>Joy</a:t>
            </a:r>
            <a:r>
              <a:rPr lang="en-US" sz="1400">
                <a:latin typeface="Arial"/>
                <a:ea typeface="Arial"/>
                <a:cs typeface="Arial"/>
                <a:sym typeface="Arial"/>
              </a:rPr>
              <a:t>: 0.7</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US" sz="1400">
                <a:latin typeface="Arial"/>
                <a:ea typeface="Arial"/>
                <a:cs typeface="Arial"/>
                <a:sym typeface="Arial"/>
              </a:rPr>
              <a:t>Sadness</a:t>
            </a:r>
            <a:r>
              <a:rPr lang="en-US" sz="1400">
                <a:latin typeface="Arial"/>
                <a:ea typeface="Arial"/>
                <a:cs typeface="Arial"/>
                <a:sym typeface="Arial"/>
              </a:rPr>
              <a:t>: 0.0</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US" sz="1400">
                <a:latin typeface="Arial"/>
                <a:ea typeface="Arial"/>
                <a:cs typeface="Arial"/>
                <a:sym typeface="Arial"/>
              </a:rPr>
              <a:t>Surprise</a:t>
            </a:r>
            <a:r>
              <a:rPr lang="en-US" sz="1400">
                <a:latin typeface="Arial"/>
                <a:ea typeface="Arial"/>
                <a:cs typeface="Arial"/>
                <a:sym typeface="Arial"/>
              </a:rPr>
              <a:t>: 0.3</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US" sz="1400">
                <a:latin typeface="Arial"/>
                <a:ea typeface="Arial"/>
                <a:cs typeface="Arial"/>
                <a:sym typeface="Arial"/>
              </a:rPr>
              <a:t>Dominant Emotion</a:t>
            </a:r>
            <a:r>
              <a:rPr lang="en-US" sz="1400">
                <a:latin typeface="Arial"/>
                <a:ea typeface="Arial"/>
                <a:cs typeface="Arial"/>
                <a:sym typeface="Arial"/>
              </a:rPr>
              <a:t>: Joy</a:t>
            </a:r>
            <a:endParaRPr sz="1400">
              <a:latin typeface="Arial"/>
              <a:ea typeface="Arial"/>
              <a:cs typeface="Arial"/>
              <a:sym typeface="Arial"/>
            </a:endParaRPr>
          </a:p>
          <a:p>
            <a:pPr indent="0" lvl="0" marL="0" rtl="0" algn="l">
              <a:lnSpc>
                <a:spcPct val="115000"/>
              </a:lnSpc>
              <a:spcBef>
                <a:spcPts val="1200"/>
              </a:spcBef>
              <a:spcAft>
                <a:spcPts val="1200"/>
              </a:spcAft>
              <a:buNone/>
            </a:pPr>
            <a:r>
              <a:t/>
            </a:r>
            <a:endParaRPr sz="1400">
              <a:latin typeface="Arial"/>
              <a:ea typeface="Arial"/>
              <a:cs typeface="Arial"/>
              <a:sym typeface="Arial"/>
            </a:endParaRPr>
          </a:p>
        </p:txBody>
      </p:sp>
      <p:sp>
        <p:nvSpPr>
          <p:cNvPr id="157" name="Google Shape;157;g345d982277e_1_188"/>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10</a:t>
            </a:r>
            <a:endParaRPr sz="900">
              <a:solidFill>
                <a:srgbClr val="888888"/>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43bd23a7fb_0_67"/>
          <p:cNvSpPr txBox="1"/>
          <p:nvPr>
            <p:ph type="title"/>
          </p:nvPr>
        </p:nvSpPr>
        <p:spPr>
          <a:xfrm>
            <a:off x="1250900" y="96630"/>
            <a:ext cx="10515600" cy="10485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000"/>
              <a:t>Distribution of average emotion intensity</a:t>
            </a:r>
            <a:endParaRPr sz="4000"/>
          </a:p>
        </p:txBody>
      </p:sp>
      <p:sp>
        <p:nvSpPr>
          <p:cNvPr id="163" name="Google Shape;163;g343bd23a7fb_0_67"/>
          <p:cNvSpPr txBox="1"/>
          <p:nvPr>
            <p:ph idx="1" type="body"/>
          </p:nvPr>
        </p:nvSpPr>
        <p:spPr>
          <a:xfrm>
            <a:off x="673100" y="1066800"/>
            <a:ext cx="11671200" cy="50214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15000"/>
              </a:lnSpc>
              <a:spcBef>
                <a:spcPts val="2400"/>
              </a:spcBef>
              <a:spcAft>
                <a:spcPts val="0"/>
              </a:spcAft>
              <a:buNone/>
            </a:pPr>
            <a:r>
              <a:t/>
            </a:r>
            <a:endParaRPr sz="2082">
              <a:latin typeface="Arial"/>
              <a:ea typeface="Arial"/>
              <a:cs typeface="Arial"/>
              <a:sym typeface="Arial"/>
            </a:endParaRPr>
          </a:p>
          <a:p>
            <a:pPr indent="0" lvl="0" marL="457200" rtl="0" algn="l">
              <a:lnSpc>
                <a:spcPct val="115000"/>
              </a:lnSpc>
              <a:spcBef>
                <a:spcPts val="2400"/>
              </a:spcBef>
              <a:spcAft>
                <a:spcPts val="0"/>
              </a:spcAft>
              <a:buNone/>
            </a:pPr>
            <a:r>
              <a:t/>
            </a:r>
            <a:endParaRPr sz="2082">
              <a:latin typeface="Arial"/>
              <a:ea typeface="Arial"/>
              <a:cs typeface="Arial"/>
              <a:sym typeface="Arial"/>
            </a:endParaRPr>
          </a:p>
          <a:p>
            <a:pPr indent="0" lvl="0" marL="0" rtl="0" algn="l">
              <a:lnSpc>
                <a:spcPct val="115000"/>
              </a:lnSpc>
              <a:spcBef>
                <a:spcPts val="2400"/>
              </a:spcBef>
              <a:spcAft>
                <a:spcPts val="0"/>
              </a:spcAft>
              <a:buNone/>
            </a:pPr>
            <a:r>
              <a:t/>
            </a:r>
            <a:endParaRPr sz="3782">
              <a:latin typeface="Arial"/>
              <a:ea typeface="Arial"/>
              <a:cs typeface="Arial"/>
              <a:sym typeface="Arial"/>
            </a:endParaRPr>
          </a:p>
          <a:p>
            <a:pPr indent="0" lvl="0" marL="0" rtl="0" algn="l">
              <a:lnSpc>
                <a:spcPct val="115000"/>
              </a:lnSpc>
              <a:spcBef>
                <a:spcPts val="2400"/>
              </a:spcBef>
              <a:spcAft>
                <a:spcPts val="0"/>
              </a:spcAft>
              <a:buNone/>
            </a:pPr>
            <a:r>
              <a:t/>
            </a:r>
            <a:endParaRPr sz="4282"/>
          </a:p>
          <a:p>
            <a:pPr indent="0" lvl="0" marL="0" rtl="0" algn="l">
              <a:lnSpc>
                <a:spcPct val="115000"/>
              </a:lnSpc>
              <a:spcBef>
                <a:spcPts val="2400"/>
              </a:spcBef>
              <a:spcAft>
                <a:spcPts val="0"/>
              </a:spcAft>
              <a:buNone/>
            </a:pPr>
            <a:r>
              <a:t/>
            </a:r>
            <a:endParaRPr/>
          </a:p>
          <a:p>
            <a:pPr indent="0" lvl="0" marL="0" rtl="0" algn="l">
              <a:lnSpc>
                <a:spcPct val="115000"/>
              </a:lnSpc>
              <a:spcBef>
                <a:spcPts val="2400"/>
              </a:spcBef>
              <a:spcAft>
                <a:spcPts val="0"/>
              </a:spcAft>
              <a:buNone/>
            </a:pPr>
            <a:r>
              <a:t/>
            </a:r>
            <a:endParaRPr/>
          </a:p>
          <a:p>
            <a:pPr indent="0" lvl="0" marL="0" rtl="0" algn="l">
              <a:lnSpc>
                <a:spcPct val="90000"/>
              </a:lnSpc>
              <a:spcBef>
                <a:spcPts val="1000"/>
              </a:spcBef>
              <a:spcAft>
                <a:spcPts val="0"/>
              </a:spcAft>
              <a:buNone/>
            </a:pPr>
            <a:r>
              <a:t/>
            </a:r>
            <a:endParaRPr/>
          </a:p>
        </p:txBody>
      </p:sp>
      <p:pic>
        <p:nvPicPr>
          <p:cNvPr id="164" name="Google Shape;164;g343bd23a7fb_0_67"/>
          <p:cNvPicPr preferRelativeResize="0"/>
          <p:nvPr/>
        </p:nvPicPr>
        <p:blipFill>
          <a:blip r:embed="rId3">
            <a:alphaModFix/>
          </a:blip>
          <a:stretch>
            <a:fillRect/>
          </a:stretch>
        </p:blipFill>
        <p:spPr>
          <a:xfrm>
            <a:off x="578975" y="1349950"/>
            <a:ext cx="11034051" cy="3619250"/>
          </a:xfrm>
          <a:prstGeom prst="rect">
            <a:avLst/>
          </a:prstGeom>
          <a:noFill/>
          <a:ln>
            <a:noFill/>
          </a:ln>
        </p:spPr>
      </p:pic>
      <p:sp>
        <p:nvSpPr>
          <p:cNvPr id="165" name="Google Shape;165;g343bd23a7fb_0_67"/>
          <p:cNvSpPr txBox="1"/>
          <p:nvPr/>
        </p:nvSpPr>
        <p:spPr>
          <a:xfrm>
            <a:off x="840650" y="5291725"/>
            <a:ext cx="509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166" name="Google Shape;166;g343bd23a7fb_0_67"/>
          <p:cNvSpPr txBox="1"/>
          <p:nvPr/>
        </p:nvSpPr>
        <p:spPr>
          <a:xfrm>
            <a:off x="973275" y="4969200"/>
            <a:ext cx="105156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Prior to the event, there was larger variance of emotion intensity and more days with lower levels.</a:t>
            </a:r>
            <a:endParaRPr sz="2800">
              <a:solidFill>
                <a:schemeClr val="dk1"/>
              </a:solidFill>
              <a:latin typeface="Calibri"/>
              <a:ea typeface="Calibri"/>
              <a:cs typeface="Calibri"/>
              <a:sym typeface="Calibri"/>
            </a:endParaRPr>
          </a:p>
        </p:txBody>
      </p:sp>
      <p:sp>
        <p:nvSpPr>
          <p:cNvPr id="167" name="Google Shape;167;g343bd23a7fb_0_67"/>
          <p:cNvSpPr txBox="1"/>
          <p:nvPr/>
        </p:nvSpPr>
        <p:spPr>
          <a:xfrm>
            <a:off x="1045100" y="6015900"/>
            <a:ext cx="10150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Calibri"/>
              <a:ea typeface="Calibri"/>
              <a:cs typeface="Calibri"/>
              <a:sym typeface="Calibri"/>
            </a:endParaRPr>
          </a:p>
          <a:p>
            <a:pPr indent="0" lvl="0" marL="0" rtl="0" algn="l">
              <a:spcBef>
                <a:spcPts val="0"/>
              </a:spcBef>
              <a:spcAft>
                <a:spcPts val="0"/>
              </a:spcAft>
              <a:buNone/>
            </a:pPr>
            <a:r>
              <a:t/>
            </a:r>
            <a:endParaRPr sz="1600">
              <a:solidFill>
                <a:schemeClr val="dk1"/>
              </a:solidFill>
              <a:latin typeface="Calibri"/>
              <a:ea typeface="Calibri"/>
              <a:cs typeface="Calibri"/>
              <a:sym typeface="Calibri"/>
            </a:endParaRPr>
          </a:p>
        </p:txBody>
      </p:sp>
      <p:sp>
        <p:nvSpPr>
          <p:cNvPr id="168" name="Google Shape;168;g343bd23a7fb_0_67"/>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11</a:t>
            </a:r>
            <a:endParaRPr sz="900">
              <a:solidFill>
                <a:srgbClr val="88888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g343bd23a7fb_0_21"/>
          <p:cNvPicPr preferRelativeResize="0"/>
          <p:nvPr/>
        </p:nvPicPr>
        <p:blipFill>
          <a:blip r:embed="rId3">
            <a:alphaModFix/>
          </a:blip>
          <a:stretch>
            <a:fillRect/>
          </a:stretch>
        </p:blipFill>
        <p:spPr>
          <a:xfrm>
            <a:off x="632700" y="822674"/>
            <a:ext cx="10926600" cy="4644599"/>
          </a:xfrm>
          <a:prstGeom prst="rect">
            <a:avLst/>
          </a:prstGeom>
          <a:noFill/>
          <a:ln>
            <a:noFill/>
          </a:ln>
        </p:spPr>
      </p:pic>
      <p:sp>
        <p:nvSpPr>
          <p:cNvPr id="174" name="Google Shape;174;g343bd23a7fb_0_21"/>
          <p:cNvSpPr txBox="1"/>
          <p:nvPr/>
        </p:nvSpPr>
        <p:spPr>
          <a:xfrm>
            <a:off x="573250" y="63000"/>
            <a:ext cx="11416500" cy="646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b="1" lang="en-US" sz="3000">
                <a:solidFill>
                  <a:schemeClr val="dk1"/>
                </a:solidFill>
              </a:rPr>
              <a:t>Difference in emotional intensity before and after the event</a:t>
            </a:r>
            <a:endParaRPr sz="3000">
              <a:solidFill>
                <a:schemeClr val="dk1"/>
              </a:solidFill>
              <a:latin typeface="Calibri"/>
              <a:ea typeface="Calibri"/>
              <a:cs typeface="Calibri"/>
              <a:sym typeface="Calibri"/>
            </a:endParaRPr>
          </a:p>
        </p:txBody>
      </p:sp>
      <p:sp>
        <p:nvSpPr>
          <p:cNvPr id="175" name="Google Shape;175;g343bd23a7fb_0_21"/>
          <p:cNvSpPr txBox="1"/>
          <p:nvPr/>
        </p:nvSpPr>
        <p:spPr>
          <a:xfrm>
            <a:off x="573250" y="6008500"/>
            <a:ext cx="87435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t/>
            </a:r>
            <a:endParaRPr/>
          </a:p>
        </p:txBody>
      </p:sp>
      <p:sp>
        <p:nvSpPr>
          <p:cNvPr id="176" name="Google Shape;176;g343bd23a7fb_0_21"/>
          <p:cNvSpPr txBox="1"/>
          <p:nvPr/>
        </p:nvSpPr>
        <p:spPr>
          <a:xfrm>
            <a:off x="699100" y="5434450"/>
            <a:ext cx="12017100" cy="170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latin typeface="Calibri"/>
                <a:ea typeface="Calibri"/>
                <a:cs typeface="Calibri"/>
                <a:sym typeface="Calibri"/>
              </a:rPr>
              <a:t>Before the event, anger, joy, and sadness had similar and overlapping intensity levels. </a:t>
            </a:r>
            <a:endParaRPr sz="22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US" sz="2200">
                <a:solidFill>
                  <a:schemeClr val="dk1"/>
                </a:solidFill>
                <a:latin typeface="Calibri"/>
                <a:ea typeface="Calibri"/>
                <a:cs typeface="Calibri"/>
                <a:sym typeface="Calibri"/>
              </a:rPr>
              <a:t>Afterward, they diverged sharply.</a:t>
            </a:r>
            <a:endParaRPr sz="2200">
              <a:solidFill>
                <a:schemeClr val="dk1"/>
              </a:solidFill>
              <a:latin typeface="Calibri"/>
              <a:ea typeface="Calibri"/>
              <a:cs typeface="Calibri"/>
              <a:sym typeface="Calibri"/>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
        <p:nvSpPr>
          <p:cNvPr id="177" name="Google Shape;177;g343bd23a7fb_0_21"/>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12</a:t>
            </a:r>
            <a:endParaRPr sz="900">
              <a:solidFill>
                <a:srgbClr val="888888"/>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g343bd23a7fb_0_6"/>
          <p:cNvPicPr preferRelativeResize="0"/>
          <p:nvPr/>
        </p:nvPicPr>
        <p:blipFill>
          <a:blip r:embed="rId3">
            <a:alphaModFix/>
          </a:blip>
          <a:stretch>
            <a:fillRect/>
          </a:stretch>
        </p:blipFill>
        <p:spPr>
          <a:xfrm>
            <a:off x="1021725" y="625825"/>
            <a:ext cx="9962051" cy="5234615"/>
          </a:xfrm>
          <a:prstGeom prst="rect">
            <a:avLst/>
          </a:prstGeom>
          <a:noFill/>
          <a:ln>
            <a:noFill/>
          </a:ln>
        </p:spPr>
      </p:pic>
      <p:sp>
        <p:nvSpPr>
          <p:cNvPr id="183" name="Google Shape;183;g343bd23a7fb_0_6"/>
          <p:cNvSpPr txBox="1"/>
          <p:nvPr/>
        </p:nvSpPr>
        <p:spPr>
          <a:xfrm>
            <a:off x="699100" y="194675"/>
            <a:ext cx="8274000" cy="105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1600">
                <a:solidFill>
                  <a:schemeClr val="dk1"/>
                </a:solidFill>
              </a:rPr>
              <a:t>Difference in emotion distribution before and after the </a:t>
            </a:r>
            <a:r>
              <a:rPr b="1" lang="en-US" sz="1600">
                <a:solidFill>
                  <a:schemeClr val="dk1"/>
                </a:solidFill>
              </a:rPr>
              <a:t>event</a:t>
            </a:r>
            <a:endParaRPr sz="2450">
              <a:solidFill>
                <a:srgbClr val="E3E3E3"/>
              </a:solidFill>
              <a:highlight>
                <a:srgbClr val="383838"/>
              </a:highlight>
              <a:latin typeface="Roboto"/>
              <a:ea typeface="Roboto"/>
              <a:cs typeface="Roboto"/>
              <a:sym typeface="Roboto"/>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
        <p:nvSpPr>
          <p:cNvPr id="184" name="Google Shape;184;g343bd23a7fb_0_6"/>
          <p:cNvSpPr txBox="1"/>
          <p:nvPr/>
        </p:nvSpPr>
        <p:spPr>
          <a:xfrm>
            <a:off x="888800" y="5811300"/>
            <a:ext cx="106479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800">
                <a:solidFill>
                  <a:schemeClr val="dk1"/>
                </a:solidFill>
                <a:latin typeface="Calibri"/>
                <a:ea typeface="Calibri"/>
                <a:cs typeface="Calibri"/>
                <a:sym typeface="Calibri"/>
              </a:rPr>
              <a:t>After the event, anger and sadness became more dominant while joy declined, highlighting a shift in expressions.</a:t>
            </a:r>
            <a:endParaRPr sz="2800">
              <a:solidFill>
                <a:schemeClr val="dk1"/>
              </a:solidFill>
              <a:latin typeface="Calibri"/>
              <a:ea typeface="Calibri"/>
              <a:cs typeface="Calibri"/>
              <a:sym typeface="Calibri"/>
            </a:endParaRPr>
          </a:p>
        </p:txBody>
      </p:sp>
      <p:sp>
        <p:nvSpPr>
          <p:cNvPr id="185" name="Google Shape;185;g343bd23a7fb_0_6"/>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13</a:t>
            </a:r>
            <a:endParaRPr sz="900">
              <a:solidFill>
                <a:srgbClr val="888888"/>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343bd23a7fb_2_5"/>
          <p:cNvSpPr txBox="1"/>
          <p:nvPr>
            <p:ph type="title"/>
          </p:nvPr>
        </p:nvSpPr>
        <p:spPr>
          <a:xfrm>
            <a:off x="457675" y="152250"/>
            <a:ext cx="119487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But...Why does “Joy” take up such a large part?</a:t>
            </a:r>
            <a:endParaRPr/>
          </a:p>
        </p:txBody>
      </p:sp>
      <p:sp>
        <p:nvSpPr>
          <p:cNvPr id="191" name="Google Shape;191;g343bd23a7fb_2_5"/>
          <p:cNvSpPr txBox="1"/>
          <p:nvPr>
            <p:ph idx="1" type="body"/>
          </p:nvPr>
        </p:nvSpPr>
        <p:spPr>
          <a:xfrm>
            <a:off x="507600" y="1407175"/>
            <a:ext cx="11176800" cy="5088000"/>
          </a:xfrm>
          <a:prstGeom prst="rect">
            <a:avLst/>
          </a:prstGeom>
        </p:spPr>
        <p:txBody>
          <a:bodyPr anchorCtr="0" anchor="t" bIns="45700" lIns="91425" spcFirstLastPara="1" rIns="91425" wrap="square" tIns="45700">
            <a:normAutofit fontScale="47500"/>
          </a:bodyPr>
          <a:lstStyle/>
          <a:p>
            <a:pPr indent="0" lvl="0" marL="0" rtl="0" algn="l">
              <a:lnSpc>
                <a:spcPct val="115000"/>
              </a:lnSpc>
              <a:spcBef>
                <a:spcPts val="1200"/>
              </a:spcBef>
              <a:spcAft>
                <a:spcPts val="0"/>
              </a:spcAft>
              <a:buNone/>
            </a:pPr>
            <a:r>
              <a:rPr b="1" lang="en-US" sz="4807">
                <a:latin typeface="Arial"/>
                <a:ea typeface="Arial"/>
                <a:cs typeface="Arial"/>
                <a:sym typeface="Arial"/>
              </a:rPr>
              <a:t>Text</a:t>
            </a:r>
            <a:r>
              <a:rPr lang="en-US" sz="4807">
                <a:latin typeface="Arial"/>
                <a:ea typeface="Arial"/>
                <a:cs typeface="Arial"/>
                <a:sym typeface="Arial"/>
              </a:rPr>
              <a:t>: The maker of "Call of Duty: Modern Warfare" has added a screen to the shooter game supporting the Black Lives Matter movement, after revealing that it is banning thousands of racist player names every day. https://t.co/OIqfSNFYVZ</a:t>
            </a:r>
            <a:endParaRPr sz="4807">
              <a:latin typeface="Arial"/>
              <a:ea typeface="Arial"/>
              <a:cs typeface="Arial"/>
              <a:sym typeface="Arial"/>
            </a:endParaRPr>
          </a:p>
          <a:p>
            <a:pPr indent="0" lvl="0" marL="0" rtl="0" algn="l">
              <a:lnSpc>
                <a:spcPct val="115000"/>
              </a:lnSpc>
              <a:spcBef>
                <a:spcPts val="1200"/>
              </a:spcBef>
              <a:spcAft>
                <a:spcPts val="0"/>
              </a:spcAft>
              <a:buClr>
                <a:schemeClr val="dk1"/>
              </a:buClr>
              <a:buSzPts val="523"/>
              <a:buFont typeface="Arial"/>
              <a:buNone/>
            </a:pPr>
            <a:r>
              <a:rPr b="1" lang="en-US" sz="4807">
                <a:latin typeface="Arial"/>
                <a:ea typeface="Arial"/>
                <a:cs typeface="Arial"/>
                <a:sym typeface="Arial"/>
              </a:rPr>
              <a:t>Emotion</a:t>
            </a:r>
            <a:r>
              <a:rPr lang="en-US" sz="4807">
                <a:latin typeface="Arial"/>
                <a:ea typeface="Arial"/>
                <a:cs typeface="Arial"/>
                <a:sym typeface="Arial"/>
              </a:rPr>
              <a:t>: Joy (0.6)</a:t>
            </a:r>
            <a:endParaRPr sz="4807">
              <a:latin typeface="Arial"/>
              <a:ea typeface="Arial"/>
              <a:cs typeface="Arial"/>
              <a:sym typeface="Arial"/>
            </a:endParaRPr>
          </a:p>
          <a:p>
            <a:pPr indent="0" lvl="0" marL="0" rtl="0" algn="l">
              <a:spcBef>
                <a:spcPts val="1200"/>
              </a:spcBef>
              <a:spcAft>
                <a:spcPts val="0"/>
              </a:spcAft>
              <a:buNone/>
            </a:pPr>
            <a:r>
              <a:t/>
            </a:r>
            <a:endParaRPr sz="4807"/>
          </a:p>
          <a:p>
            <a:pPr indent="0" lvl="0" marL="0" rtl="0" algn="l">
              <a:spcBef>
                <a:spcPts val="1000"/>
              </a:spcBef>
              <a:spcAft>
                <a:spcPts val="0"/>
              </a:spcAft>
              <a:buNone/>
            </a:pPr>
            <a:r>
              <a:rPr b="1" lang="en-US" sz="4807">
                <a:latin typeface="Arial"/>
                <a:ea typeface="Arial"/>
                <a:cs typeface="Arial"/>
                <a:sym typeface="Arial"/>
              </a:rPr>
              <a:t>Text</a:t>
            </a:r>
            <a:r>
              <a:rPr lang="en-US" sz="4807">
                <a:latin typeface="Arial"/>
                <a:ea typeface="Arial"/>
                <a:cs typeface="Arial"/>
                <a:sym typeface="Arial"/>
              </a:rPr>
              <a:t>: </a:t>
            </a:r>
            <a:r>
              <a:rPr lang="en-US" sz="4807"/>
              <a:t>We’re doing a Tooting Black Pound Day Trail of local #Tooting businesses on Saturday 5th September, ending up at a Community Event/Trade Fair to promote Black Businesses who don’t have premises. 🙏🏽 You’re welcome to come and join us to support our community! 🙏🏽❤️ #BLM</a:t>
            </a:r>
            <a:endParaRPr sz="4807"/>
          </a:p>
          <a:p>
            <a:pPr indent="0" lvl="0" marL="0" rtl="0" algn="l">
              <a:lnSpc>
                <a:spcPct val="115000"/>
              </a:lnSpc>
              <a:spcBef>
                <a:spcPts val="1200"/>
              </a:spcBef>
              <a:spcAft>
                <a:spcPts val="0"/>
              </a:spcAft>
              <a:buNone/>
            </a:pPr>
            <a:r>
              <a:rPr b="1" lang="en-US" sz="4807">
                <a:latin typeface="Arial"/>
                <a:ea typeface="Arial"/>
                <a:cs typeface="Arial"/>
                <a:sym typeface="Arial"/>
              </a:rPr>
              <a:t>Emotion</a:t>
            </a:r>
            <a:r>
              <a:rPr lang="en-US" sz="4807">
                <a:latin typeface="Arial"/>
                <a:ea typeface="Arial"/>
                <a:cs typeface="Arial"/>
                <a:sym typeface="Arial"/>
              </a:rPr>
              <a:t>: Joy (0.7)</a:t>
            </a:r>
            <a:endParaRPr sz="4807">
              <a:latin typeface="Arial"/>
              <a:ea typeface="Arial"/>
              <a:cs typeface="Arial"/>
              <a:sym typeface="Arial"/>
            </a:endParaRPr>
          </a:p>
          <a:p>
            <a:pPr indent="0" lvl="0" marL="0" rtl="0" algn="l">
              <a:lnSpc>
                <a:spcPct val="115000"/>
              </a:lnSpc>
              <a:spcBef>
                <a:spcPts val="1200"/>
              </a:spcBef>
              <a:spcAft>
                <a:spcPts val="0"/>
              </a:spcAft>
              <a:buNone/>
            </a:pPr>
            <a:r>
              <a:t/>
            </a:r>
            <a:endParaRPr sz="600">
              <a:latin typeface="Arial"/>
              <a:ea typeface="Arial"/>
              <a:cs typeface="Arial"/>
              <a:sym typeface="Arial"/>
            </a:endParaRPr>
          </a:p>
          <a:p>
            <a:pPr indent="0" lvl="0" marL="0" rtl="0" algn="l">
              <a:lnSpc>
                <a:spcPct val="115000"/>
              </a:lnSpc>
              <a:spcBef>
                <a:spcPts val="1200"/>
              </a:spcBef>
              <a:spcAft>
                <a:spcPts val="0"/>
              </a:spcAft>
              <a:buClr>
                <a:schemeClr val="dk1"/>
              </a:buClr>
              <a:buSzPct val="183333"/>
              <a:buFont typeface="Arial"/>
              <a:buNone/>
            </a:pPr>
            <a:r>
              <a:t/>
            </a:r>
            <a:endParaRPr sz="600">
              <a:latin typeface="Arial"/>
              <a:ea typeface="Arial"/>
              <a:cs typeface="Arial"/>
              <a:sym typeface="Arial"/>
            </a:endParaRPr>
          </a:p>
          <a:p>
            <a:pPr indent="0" lvl="0" marL="0" rtl="0" algn="l">
              <a:spcBef>
                <a:spcPts val="1200"/>
              </a:spcBef>
              <a:spcAft>
                <a:spcPts val="0"/>
              </a:spcAft>
              <a:buNone/>
            </a:pPr>
            <a:r>
              <a:t/>
            </a:r>
            <a:endParaRPr/>
          </a:p>
        </p:txBody>
      </p:sp>
      <p:sp>
        <p:nvSpPr>
          <p:cNvPr id="192" name="Google Shape;192;g343bd23a7fb_2_5"/>
          <p:cNvSpPr txBox="1"/>
          <p:nvPr/>
        </p:nvSpPr>
        <p:spPr>
          <a:xfrm>
            <a:off x="803325" y="5893425"/>
            <a:ext cx="13008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1"/>
                </a:solidFill>
                <a:latin typeface="Calibri"/>
                <a:ea typeface="Calibri"/>
                <a:cs typeface="Calibri"/>
                <a:sym typeface="Calibri"/>
              </a:rPr>
              <a:t>Joy is often associated with promotion and motivational discourse in social mobilization.</a:t>
            </a:r>
            <a:endParaRPr b="1" sz="2200">
              <a:solidFill>
                <a:schemeClr val="dk1"/>
              </a:solidFill>
              <a:latin typeface="Calibri"/>
              <a:ea typeface="Calibri"/>
              <a:cs typeface="Calibri"/>
              <a:sym typeface="Calibri"/>
            </a:endParaRPr>
          </a:p>
        </p:txBody>
      </p:sp>
      <p:sp>
        <p:nvSpPr>
          <p:cNvPr id="193" name="Google Shape;193;g343bd23a7fb_2_5"/>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14</a:t>
            </a:r>
            <a:endParaRPr sz="900">
              <a:solidFill>
                <a:srgbClr val="88888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45d982277e_1_203"/>
          <p:cNvSpPr txBox="1"/>
          <p:nvPr>
            <p:ph type="title"/>
          </p:nvPr>
        </p:nvSpPr>
        <p:spPr>
          <a:xfrm>
            <a:off x="793975" y="61225"/>
            <a:ext cx="10515600" cy="8910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400"/>
              </a:spcBef>
              <a:spcAft>
                <a:spcPts val="400"/>
              </a:spcAft>
              <a:buClr>
                <a:schemeClr val="dk1"/>
              </a:buClr>
              <a:buSzPts val="1100"/>
              <a:buFont typeface="Arial"/>
              <a:buNone/>
            </a:pPr>
            <a:r>
              <a:rPr lang="en-US"/>
              <a:t>Political Mobilization Frameworks</a:t>
            </a:r>
            <a:endParaRPr/>
          </a:p>
        </p:txBody>
      </p:sp>
      <p:sp>
        <p:nvSpPr>
          <p:cNvPr id="199" name="Google Shape;199;g345d982277e_1_203"/>
          <p:cNvSpPr txBox="1"/>
          <p:nvPr>
            <p:ph idx="1" type="body"/>
          </p:nvPr>
        </p:nvSpPr>
        <p:spPr>
          <a:xfrm>
            <a:off x="793975" y="1091325"/>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1750">
                <a:latin typeface="Arial"/>
                <a:ea typeface="Arial"/>
                <a:cs typeface="Arial"/>
                <a:sym typeface="Arial"/>
              </a:rPr>
              <a:t>Motivational, Diagnostic, and Prognostic Frames (</a:t>
            </a:r>
            <a:r>
              <a:rPr i="1" lang="en-US" sz="1750">
                <a:latin typeface="Arial"/>
                <a:ea typeface="Arial"/>
                <a:cs typeface="Arial"/>
                <a:sym typeface="Arial"/>
              </a:rPr>
              <a:t>Snow &amp; Benford, 1988)</a:t>
            </a:r>
            <a:br>
              <a:rPr b="1" lang="en-US" sz="1750">
                <a:latin typeface="Arial"/>
                <a:ea typeface="Arial"/>
                <a:cs typeface="Arial"/>
                <a:sym typeface="Arial"/>
              </a:rPr>
            </a:br>
            <a:endParaRPr i="1" sz="1750">
              <a:latin typeface="Arial"/>
              <a:ea typeface="Arial"/>
              <a:cs typeface="Arial"/>
              <a:sym typeface="Arial"/>
            </a:endParaRPr>
          </a:p>
          <a:p>
            <a:pPr indent="-339725" lvl="0" marL="457200" rtl="0" algn="l">
              <a:lnSpc>
                <a:spcPct val="115000"/>
              </a:lnSpc>
              <a:spcBef>
                <a:spcPts val="1200"/>
              </a:spcBef>
              <a:spcAft>
                <a:spcPts val="0"/>
              </a:spcAft>
              <a:buSzPts val="1750"/>
              <a:buChar char="●"/>
            </a:pPr>
            <a:r>
              <a:rPr b="1" lang="en-US" sz="1750">
                <a:latin typeface="Arial"/>
                <a:ea typeface="Arial"/>
                <a:cs typeface="Arial"/>
                <a:sym typeface="Arial"/>
              </a:rPr>
              <a:t>Motivational Frame</a:t>
            </a:r>
            <a:r>
              <a:rPr lang="en-US" sz="1750">
                <a:latin typeface="Arial"/>
                <a:ea typeface="Arial"/>
                <a:cs typeface="Arial"/>
                <a:sym typeface="Arial"/>
              </a:rPr>
              <a:t>: Issues an emotional or moral </a:t>
            </a:r>
            <a:r>
              <a:rPr b="1" lang="en-US" sz="1750">
                <a:latin typeface="Arial"/>
                <a:ea typeface="Arial"/>
                <a:cs typeface="Arial"/>
                <a:sym typeface="Arial"/>
              </a:rPr>
              <a:t>call to action</a:t>
            </a:r>
            <a:r>
              <a:rPr lang="en-US" sz="1750">
                <a:latin typeface="Arial"/>
                <a:ea typeface="Arial"/>
                <a:cs typeface="Arial"/>
                <a:sym typeface="Arial"/>
              </a:rPr>
              <a:t>. It mobilizes participants by stressing the urgency and necessity of collective action.</a:t>
            </a:r>
            <a:br>
              <a:rPr lang="en-US" sz="1750">
                <a:latin typeface="Arial"/>
                <a:ea typeface="Arial"/>
                <a:cs typeface="Arial"/>
                <a:sym typeface="Arial"/>
              </a:rPr>
            </a:br>
            <a:r>
              <a:rPr i="1" lang="en-US" sz="1750">
                <a:latin typeface="Arial"/>
                <a:ea typeface="Arial"/>
                <a:cs typeface="Arial"/>
                <a:sym typeface="Arial"/>
              </a:rPr>
              <a:t>Example: "We must stand up now to defend our rights."</a:t>
            </a:r>
            <a:endParaRPr i="1" sz="1750">
              <a:latin typeface="Arial"/>
              <a:ea typeface="Arial"/>
              <a:cs typeface="Arial"/>
              <a:sym typeface="Arial"/>
            </a:endParaRPr>
          </a:p>
          <a:p>
            <a:pPr indent="-339725" lvl="0" marL="457200" rtl="0" algn="l">
              <a:lnSpc>
                <a:spcPct val="115000"/>
              </a:lnSpc>
              <a:spcBef>
                <a:spcPts val="0"/>
              </a:spcBef>
              <a:spcAft>
                <a:spcPts val="0"/>
              </a:spcAft>
              <a:buSzPts val="1750"/>
              <a:buChar char="●"/>
            </a:pPr>
            <a:r>
              <a:rPr b="1" lang="en-US" sz="1750">
                <a:latin typeface="Arial"/>
                <a:ea typeface="Arial"/>
                <a:cs typeface="Arial"/>
                <a:sym typeface="Arial"/>
              </a:rPr>
              <a:t>Diagnostic Frame</a:t>
            </a:r>
            <a:r>
              <a:rPr lang="en-US" sz="1750">
                <a:latin typeface="Arial"/>
                <a:ea typeface="Arial"/>
                <a:cs typeface="Arial"/>
                <a:sym typeface="Arial"/>
              </a:rPr>
              <a:t>: </a:t>
            </a:r>
            <a:r>
              <a:rPr b="1" lang="en-US" sz="1750">
                <a:latin typeface="Arial"/>
                <a:ea typeface="Arial"/>
                <a:cs typeface="Arial"/>
                <a:sym typeface="Arial"/>
              </a:rPr>
              <a:t>Identifies and attributes</a:t>
            </a:r>
            <a:r>
              <a:rPr lang="en-US" sz="1750">
                <a:latin typeface="Arial"/>
                <a:ea typeface="Arial"/>
                <a:cs typeface="Arial"/>
                <a:sym typeface="Arial"/>
              </a:rPr>
              <a:t> the </a:t>
            </a:r>
            <a:r>
              <a:rPr b="1" lang="en-US" sz="1750">
                <a:latin typeface="Arial"/>
                <a:ea typeface="Arial"/>
                <a:cs typeface="Arial"/>
                <a:sym typeface="Arial"/>
              </a:rPr>
              <a:t>social problem</a:t>
            </a:r>
            <a:r>
              <a:rPr lang="en-US" sz="1750">
                <a:latin typeface="Arial"/>
                <a:ea typeface="Arial"/>
                <a:cs typeface="Arial"/>
                <a:sym typeface="Arial"/>
              </a:rPr>
              <a:t>. It defines what is wrong and who or what is responsible.</a:t>
            </a:r>
            <a:br>
              <a:rPr lang="en-US" sz="1750">
                <a:latin typeface="Arial"/>
                <a:ea typeface="Arial"/>
                <a:cs typeface="Arial"/>
                <a:sym typeface="Arial"/>
              </a:rPr>
            </a:br>
            <a:r>
              <a:rPr i="1" lang="en-US" sz="1750">
                <a:latin typeface="Arial"/>
                <a:ea typeface="Arial"/>
                <a:cs typeface="Arial"/>
                <a:sym typeface="Arial"/>
              </a:rPr>
              <a:t>Example: "Police use excessive force against marginalized communities."</a:t>
            </a:r>
            <a:endParaRPr i="1" sz="1750">
              <a:latin typeface="Arial"/>
              <a:ea typeface="Arial"/>
              <a:cs typeface="Arial"/>
              <a:sym typeface="Arial"/>
            </a:endParaRPr>
          </a:p>
          <a:p>
            <a:pPr indent="-339725" lvl="0" marL="457200" rtl="0" algn="l">
              <a:lnSpc>
                <a:spcPct val="115000"/>
              </a:lnSpc>
              <a:spcBef>
                <a:spcPts val="0"/>
              </a:spcBef>
              <a:spcAft>
                <a:spcPts val="0"/>
              </a:spcAft>
              <a:buSzPts val="1750"/>
              <a:buChar char="●"/>
            </a:pPr>
            <a:r>
              <a:rPr b="1" lang="en-US" sz="1750">
                <a:latin typeface="Arial"/>
                <a:ea typeface="Arial"/>
                <a:cs typeface="Arial"/>
                <a:sym typeface="Arial"/>
              </a:rPr>
              <a:t>Prognostic Frame</a:t>
            </a:r>
            <a:r>
              <a:rPr lang="en-US" sz="1750">
                <a:latin typeface="Arial"/>
                <a:ea typeface="Arial"/>
                <a:cs typeface="Arial"/>
                <a:sym typeface="Arial"/>
              </a:rPr>
              <a:t>: </a:t>
            </a:r>
            <a:r>
              <a:rPr b="1" lang="en-US" sz="1750">
                <a:latin typeface="Arial"/>
                <a:ea typeface="Arial"/>
                <a:cs typeface="Arial"/>
                <a:sym typeface="Arial"/>
              </a:rPr>
              <a:t>Proposes strategies or solutions</a:t>
            </a:r>
            <a:r>
              <a:rPr lang="en-US" sz="1750">
                <a:latin typeface="Arial"/>
                <a:ea typeface="Arial"/>
                <a:cs typeface="Arial"/>
                <a:sym typeface="Arial"/>
              </a:rPr>
              <a:t> to address the problem. It outlines what actions should be taken and by whom.</a:t>
            </a:r>
            <a:br>
              <a:rPr lang="en-US" sz="1750">
                <a:latin typeface="Arial"/>
                <a:ea typeface="Arial"/>
                <a:cs typeface="Arial"/>
                <a:sym typeface="Arial"/>
              </a:rPr>
            </a:br>
            <a:r>
              <a:rPr i="1" lang="en-US" sz="1750">
                <a:latin typeface="Arial"/>
                <a:ea typeface="Arial"/>
                <a:cs typeface="Arial"/>
                <a:sym typeface="Arial"/>
              </a:rPr>
              <a:t>Example: "We need legal reforms to ensure police accountability."</a:t>
            </a:r>
            <a:endParaRPr i="1" sz="1750">
              <a:latin typeface="Arial"/>
              <a:ea typeface="Arial"/>
              <a:cs typeface="Arial"/>
              <a:sym typeface="Arial"/>
            </a:endParaRPr>
          </a:p>
          <a:p>
            <a:pPr indent="0" lvl="0" marL="0" rtl="0" algn="l">
              <a:spcBef>
                <a:spcPts val="1200"/>
              </a:spcBef>
              <a:spcAft>
                <a:spcPts val="0"/>
              </a:spcAft>
              <a:buNone/>
            </a:pPr>
            <a:r>
              <a:t/>
            </a:r>
            <a:endParaRPr sz="1750">
              <a:latin typeface="Arial"/>
              <a:ea typeface="Arial"/>
              <a:cs typeface="Arial"/>
              <a:sym typeface="Arial"/>
            </a:endParaRPr>
          </a:p>
          <a:p>
            <a:pPr indent="0" lvl="0" marL="0" rtl="0" algn="l">
              <a:spcBef>
                <a:spcPts val="1000"/>
              </a:spcBef>
              <a:spcAft>
                <a:spcPts val="0"/>
              </a:spcAft>
              <a:buNone/>
            </a:pPr>
            <a:r>
              <a:rPr lang="en-US" sz="1750">
                <a:latin typeface="Arial"/>
                <a:ea typeface="Arial"/>
                <a:cs typeface="Arial"/>
                <a:sym typeface="Arial"/>
              </a:rPr>
              <a:t>In annotation, there is also a category for “</a:t>
            </a:r>
            <a:r>
              <a:rPr b="1" lang="en-US" sz="1750">
                <a:latin typeface="Arial"/>
                <a:ea typeface="Arial"/>
                <a:cs typeface="Arial"/>
                <a:sym typeface="Arial"/>
              </a:rPr>
              <a:t>irrelevant”</a:t>
            </a:r>
            <a:r>
              <a:rPr lang="en-US" sz="1750">
                <a:latin typeface="Arial"/>
                <a:ea typeface="Arial"/>
                <a:cs typeface="Arial"/>
                <a:sym typeface="Arial"/>
              </a:rPr>
              <a:t>(to political mobilization)</a:t>
            </a:r>
            <a:r>
              <a:rPr lang="en-US" sz="1750">
                <a:latin typeface="Arial"/>
                <a:ea typeface="Arial"/>
                <a:cs typeface="Arial"/>
                <a:sym typeface="Arial"/>
              </a:rPr>
              <a:t>, for example:</a:t>
            </a:r>
            <a:endParaRPr sz="1750">
              <a:latin typeface="Arial"/>
              <a:ea typeface="Arial"/>
              <a:cs typeface="Arial"/>
              <a:sym typeface="Arial"/>
            </a:endParaRPr>
          </a:p>
          <a:p>
            <a:pPr indent="0" lvl="0" marL="0" rtl="0" algn="l">
              <a:spcBef>
                <a:spcPts val="1000"/>
              </a:spcBef>
              <a:spcAft>
                <a:spcPts val="0"/>
              </a:spcAft>
              <a:buNone/>
            </a:pPr>
            <a:r>
              <a:rPr i="1" lang="en-US" sz="1750">
                <a:latin typeface="Arial"/>
                <a:ea typeface="Arial"/>
                <a:cs typeface="Arial"/>
                <a:sym typeface="Arial"/>
              </a:rPr>
              <a:t>"Michael B. Jordan is People's Sexiest Man Alive in 2020! 😮 The actor is known for starring in 'Black Panther' and 'Creed,' and for actively supporting the Black Lives Matter movement."</a:t>
            </a:r>
            <a:endParaRPr sz="1750"/>
          </a:p>
        </p:txBody>
      </p:sp>
      <p:sp>
        <p:nvSpPr>
          <p:cNvPr id="200" name="Google Shape;200;g345d982277e_1_203"/>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15</a:t>
            </a:r>
            <a:endParaRPr sz="900">
              <a:solidFill>
                <a:srgbClr val="888888"/>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g345d982277e_1_209"/>
          <p:cNvSpPr txBox="1"/>
          <p:nvPr>
            <p:ph type="title"/>
          </p:nvPr>
        </p:nvSpPr>
        <p:spPr>
          <a:xfrm>
            <a:off x="507600" y="-68975"/>
            <a:ext cx="119487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sz="3700"/>
              <a:t>The heat map provides an interesting depiction for this part:</a:t>
            </a:r>
            <a:endParaRPr sz="3700"/>
          </a:p>
        </p:txBody>
      </p:sp>
      <p:sp>
        <p:nvSpPr>
          <p:cNvPr id="206" name="Google Shape;206;g345d982277e_1_209"/>
          <p:cNvSpPr txBox="1"/>
          <p:nvPr>
            <p:ph idx="1" type="body"/>
          </p:nvPr>
        </p:nvSpPr>
        <p:spPr>
          <a:xfrm>
            <a:off x="507600" y="1770000"/>
            <a:ext cx="11176800" cy="5088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t/>
            </a:r>
            <a:endParaRPr sz="2250">
              <a:latin typeface="Arial"/>
              <a:ea typeface="Arial"/>
              <a:cs typeface="Arial"/>
              <a:sym typeface="Arial"/>
            </a:endParaRPr>
          </a:p>
          <a:p>
            <a:pPr indent="0" lvl="0" marL="0" rtl="0" algn="l">
              <a:lnSpc>
                <a:spcPct val="115000"/>
              </a:lnSpc>
              <a:spcBef>
                <a:spcPts val="1200"/>
              </a:spcBef>
              <a:spcAft>
                <a:spcPts val="0"/>
              </a:spcAft>
              <a:buNone/>
            </a:pPr>
            <a:r>
              <a:t/>
            </a:r>
            <a:endParaRPr sz="600">
              <a:latin typeface="Arial"/>
              <a:ea typeface="Arial"/>
              <a:cs typeface="Arial"/>
              <a:sym typeface="Arial"/>
            </a:endParaRPr>
          </a:p>
          <a:p>
            <a:pPr indent="0" lvl="0" marL="0" rtl="0" algn="l">
              <a:lnSpc>
                <a:spcPct val="115000"/>
              </a:lnSpc>
              <a:spcBef>
                <a:spcPts val="1200"/>
              </a:spcBef>
              <a:spcAft>
                <a:spcPts val="0"/>
              </a:spcAft>
              <a:buNone/>
            </a:pPr>
            <a:r>
              <a:t/>
            </a:r>
            <a:endParaRPr sz="600">
              <a:latin typeface="Arial"/>
              <a:ea typeface="Arial"/>
              <a:cs typeface="Arial"/>
              <a:sym typeface="Arial"/>
            </a:endParaRPr>
          </a:p>
          <a:p>
            <a:pPr indent="0" lvl="0" marL="0" rtl="0" algn="l">
              <a:spcBef>
                <a:spcPts val="1200"/>
              </a:spcBef>
              <a:spcAft>
                <a:spcPts val="0"/>
              </a:spcAft>
              <a:buNone/>
            </a:pPr>
            <a:r>
              <a:t/>
            </a:r>
            <a:endParaRPr/>
          </a:p>
        </p:txBody>
      </p:sp>
      <p:pic>
        <p:nvPicPr>
          <p:cNvPr id="207" name="Google Shape;207;g345d982277e_1_209"/>
          <p:cNvPicPr preferRelativeResize="0"/>
          <p:nvPr/>
        </p:nvPicPr>
        <p:blipFill>
          <a:blip r:embed="rId3">
            <a:alphaModFix/>
          </a:blip>
          <a:stretch>
            <a:fillRect/>
          </a:stretch>
        </p:blipFill>
        <p:spPr>
          <a:xfrm>
            <a:off x="2581250" y="911600"/>
            <a:ext cx="7029500" cy="4752325"/>
          </a:xfrm>
          <a:prstGeom prst="rect">
            <a:avLst/>
          </a:prstGeom>
          <a:noFill/>
          <a:ln>
            <a:noFill/>
          </a:ln>
        </p:spPr>
      </p:pic>
      <p:sp>
        <p:nvSpPr>
          <p:cNvPr id="208" name="Google Shape;208;g345d982277e_1_209"/>
          <p:cNvSpPr txBox="1"/>
          <p:nvPr/>
        </p:nvSpPr>
        <p:spPr>
          <a:xfrm>
            <a:off x="1185775" y="5707625"/>
            <a:ext cx="9300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1800">
                <a:solidFill>
                  <a:schemeClr val="dk1"/>
                </a:solidFill>
              </a:rPr>
              <a:t>Joy</a:t>
            </a:r>
            <a:r>
              <a:rPr lang="en-US" sz="1800">
                <a:solidFill>
                  <a:schemeClr val="dk1"/>
                </a:solidFill>
              </a:rPr>
              <a:t> is primarily associated with </a:t>
            </a:r>
            <a:r>
              <a:rPr b="1" lang="en-US" sz="1800">
                <a:solidFill>
                  <a:schemeClr val="dk1"/>
                </a:solidFill>
              </a:rPr>
              <a:t>motivational</a:t>
            </a:r>
            <a:r>
              <a:rPr lang="en-US" sz="1800">
                <a:solidFill>
                  <a:schemeClr val="dk1"/>
                </a:solidFill>
              </a:rPr>
              <a:t> framing.</a:t>
            </a:r>
            <a:endParaRPr sz="1800">
              <a:solidFill>
                <a:schemeClr val="dk1"/>
              </a:solidFill>
            </a:endParaRPr>
          </a:p>
          <a:p>
            <a:pPr indent="0" lvl="0" marL="0" rtl="0" algn="l">
              <a:spcBef>
                <a:spcPts val="0"/>
              </a:spcBef>
              <a:spcAft>
                <a:spcPts val="0"/>
              </a:spcAft>
              <a:buNone/>
            </a:pPr>
            <a:r>
              <a:rPr lang="en-US" sz="1800">
                <a:solidFill>
                  <a:schemeClr val="dk1"/>
                </a:solidFill>
              </a:rPr>
              <a:t>Other emotions are predominantly associated with </a:t>
            </a:r>
            <a:r>
              <a:rPr b="1" lang="en-US" sz="1800">
                <a:solidFill>
                  <a:schemeClr val="dk1"/>
                </a:solidFill>
              </a:rPr>
              <a:t>diagnostic</a:t>
            </a:r>
            <a:r>
              <a:rPr lang="en-US" sz="1800">
                <a:solidFill>
                  <a:schemeClr val="dk1"/>
                </a:solidFill>
              </a:rPr>
              <a:t> framing.</a:t>
            </a:r>
            <a:endParaRPr sz="1800">
              <a:solidFill>
                <a:schemeClr val="dk1"/>
              </a:solidFill>
              <a:latin typeface="Calibri"/>
              <a:ea typeface="Calibri"/>
              <a:cs typeface="Calibri"/>
              <a:sym typeface="Calibri"/>
            </a:endParaRPr>
          </a:p>
        </p:txBody>
      </p:sp>
      <p:sp>
        <p:nvSpPr>
          <p:cNvPr id="209" name="Google Shape;209;g345d982277e_1_209"/>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16</a:t>
            </a:r>
            <a:endParaRPr sz="900">
              <a:solidFill>
                <a:srgbClr val="888888"/>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465817b329_0_1"/>
          <p:cNvSpPr txBox="1"/>
          <p:nvPr>
            <p:ph type="title"/>
          </p:nvPr>
        </p:nvSpPr>
        <p:spPr>
          <a:xfrm>
            <a:off x="193675" y="-40475"/>
            <a:ext cx="11948700" cy="831300"/>
          </a:xfrm>
          <a:prstGeom prst="rect">
            <a:avLst/>
          </a:prstGeom>
        </p:spPr>
        <p:txBody>
          <a:bodyPr anchorCtr="0" anchor="ctr"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Font typeface="Arial"/>
              <a:buNone/>
            </a:pPr>
            <a:r>
              <a:rPr b="1" lang="en-US" sz="2500">
                <a:latin typeface="Arial"/>
                <a:ea typeface="Arial"/>
                <a:cs typeface="Arial"/>
                <a:sym typeface="Arial"/>
              </a:rPr>
              <a:t>Difference in </a:t>
            </a:r>
            <a:r>
              <a:rPr b="1" lang="en-US" sz="2500"/>
              <a:t>Political Mobilization Frame</a:t>
            </a:r>
            <a:r>
              <a:rPr b="1" lang="en-US" sz="2500">
                <a:latin typeface="Arial"/>
                <a:ea typeface="Arial"/>
                <a:cs typeface="Arial"/>
                <a:sym typeface="Arial"/>
              </a:rPr>
              <a:t> distribution before and after the event</a:t>
            </a:r>
            <a:endParaRPr b="1" sz="2500"/>
          </a:p>
        </p:txBody>
      </p:sp>
      <p:sp>
        <p:nvSpPr>
          <p:cNvPr id="215" name="Google Shape;215;g3465817b329_0_1"/>
          <p:cNvSpPr txBox="1"/>
          <p:nvPr>
            <p:ph idx="1" type="body"/>
          </p:nvPr>
        </p:nvSpPr>
        <p:spPr>
          <a:xfrm>
            <a:off x="507600" y="1770000"/>
            <a:ext cx="11176800" cy="50880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t/>
            </a:r>
            <a:endParaRPr sz="2250">
              <a:latin typeface="Arial"/>
              <a:ea typeface="Arial"/>
              <a:cs typeface="Arial"/>
              <a:sym typeface="Arial"/>
            </a:endParaRPr>
          </a:p>
          <a:p>
            <a:pPr indent="0" lvl="0" marL="0" rtl="0" algn="l">
              <a:lnSpc>
                <a:spcPct val="115000"/>
              </a:lnSpc>
              <a:spcBef>
                <a:spcPts val="1200"/>
              </a:spcBef>
              <a:spcAft>
                <a:spcPts val="0"/>
              </a:spcAft>
              <a:buNone/>
            </a:pPr>
            <a:r>
              <a:t/>
            </a:r>
            <a:endParaRPr sz="600">
              <a:latin typeface="Arial"/>
              <a:ea typeface="Arial"/>
              <a:cs typeface="Arial"/>
              <a:sym typeface="Arial"/>
            </a:endParaRPr>
          </a:p>
          <a:p>
            <a:pPr indent="0" lvl="0" marL="0" rtl="0" algn="l">
              <a:lnSpc>
                <a:spcPct val="115000"/>
              </a:lnSpc>
              <a:spcBef>
                <a:spcPts val="1200"/>
              </a:spcBef>
              <a:spcAft>
                <a:spcPts val="0"/>
              </a:spcAft>
              <a:buNone/>
            </a:pPr>
            <a:r>
              <a:t/>
            </a:r>
            <a:endParaRPr sz="600">
              <a:latin typeface="Arial"/>
              <a:ea typeface="Arial"/>
              <a:cs typeface="Arial"/>
              <a:sym typeface="Arial"/>
            </a:endParaRPr>
          </a:p>
          <a:p>
            <a:pPr indent="0" lvl="0" marL="0" rtl="0" algn="l">
              <a:spcBef>
                <a:spcPts val="1200"/>
              </a:spcBef>
              <a:spcAft>
                <a:spcPts val="0"/>
              </a:spcAft>
              <a:buNone/>
            </a:pPr>
            <a:r>
              <a:t/>
            </a:r>
            <a:endParaRPr/>
          </a:p>
        </p:txBody>
      </p:sp>
      <p:pic>
        <p:nvPicPr>
          <p:cNvPr id="216" name="Google Shape;216;g3465817b329_0_1"/>
          <p:cNvPicPr preferRelativeResize="0"/>
          <p:nvPr/>
        </p:nvPicPr>
        <p:blipFill>
          <a:blip r:embed="rId3">
            <a:alphaModFix/>
          </a:blip>
          <a:stretch>
            <a:fillRect/>
          </a:stretch>
        </p:blipFill>
        <p:spPr>
          <a:xfrm>
            <a:off x="1327125" y="847250"/>
            <a:ext cx="9365299" cy="4824300"/>
          </a:xfrm>
          <a:prstGeom prst="rect">
            <a:avLst/>
          </a:prstGeom>
          <a:noFill/>
          <a:ln>
            <a:noFill/>
          </a:ln>
        </p:spPr>
      </p:pic>
      <p:sp>
        <p:nvSpPr>
          <p:cNvPr id="217" name="Google Shape;217;g3465817b329_0_1"/>
          <p:cNvSpPr txBox="1"/>
          <p:nvPr/>
        </p:nvSpPr>
        <p:spPr>
          <a:xfrm>
            <a:off x="672525" y="5990800"/>
            <a:ext cx="509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18" name="Google Shape;218;g3465817b329_0_1"/>
          <p:cNvSpPr txBox="1"/>
          <p:nvPr/>
        </p:nvSpPr>
        <p:spPr>
          <a:xfrm>
            <a:off x="1166900" y="5463225"/>
            <a:ext cx="108048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dk1"/>
                </a:solidFill>
                <a:latin typeface="Calibri"/>
                <a:ea typeface="Calibri"/>
                <a:cs typeface="Calibri"/>
                <a:sym typeface="Calibri"/>
              </a:rPr>
              <a:t>After the event: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diagnostic and motivational framing increased</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irrelevant content decreased</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lang="en-US" sz="1800">
                <a:solidFill>
                  <a:schemeClr val="dk1"/>
                </a:solidFill>
                <a:latin typeface="Calibri"/>
                <a:ea typeface="Calibri"/>
                <a:cs typeface="Calibri"/>
                <a:sym typeface="Calibri"/>
              </a:rPr>
              <a:t>solution-oriented discourse remained minimal</a:t>
            </a:r>
            <a:endParaRPr sz="1800">
              <a:solidFill>
                <a:schemeClr val="dk1"/>
              </a:solidFill>
              <a:latin typeface="Calibri"/>
              <a:ea typeface="Calibri"/>
              <a:cs typeface="Calibri"/>
              <a:sym typeface="Calibri"/>
            </a:endParaRPr>
          </a:p>
        </p:txBody>
      </p:sp>
      <p:sp>
        <p:nvSpPr>
          <p:cNvPr id="219" name="Google Shape;219;g3465817b329_0_1"/>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17</a:t>
            </a:r>
            <a:endParaRPr sz="900">
              <a:solidFill>
                <a:srgbClr val="888888"/>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43bd23a7fb_0_35"/>
          <p:cNvSpPr txBox="1"/>
          <p:nvPr/>
        </p:nvSpPr>
        <p:spPr>
          <a:xfrm>
            <a:off x="243125" y="194675"/>
            <a:ext cx="11826000" cy="1000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US" sz="2000">
                <a:solidFill>
                  <a:schemeClr val="dk1"/>
                </a:solidFill>
              </a:rPr>
              <a:t>Difference in the relationship between emotional intensity and retweet before and after the event</a:t>
            </a:r>
            <a:endParaRPr sz="2000">
              <a:solidFill>
                <a:srgbClr val="E3E3E3"/>
              </a:solidFill>
              <a:highlight>
                <a:srgbClr val="383838"/>
              </a:highlight>
              <a:latin typeface="Roboto"/>
              <a:ea typeface="Roboto"/>
              <a:cs typeface="Roboto"/>
              <a:sym typeface="Roboto"/>
            </a:endParaRPr>
          </a:p>
          <a:p>
            <a:pPr indent="0" lvl="0" marL="0" rtl="0" algn="l">
              <a:spcBef>
                <a:spcPts val="1200"/>
              </a:spcBef>
              <a:spcAft>
                <a:spcPts val="0"/>
              </a:spcAft>
              <a:buNone/>
            </a:pPr>
            <a:r>
              <a:t/>
            </a:r>
            <a:endParaRPr sz="2000">
              <a:solidFill>
                <a:schemeClr val="dk1"/>
              </a:solidFill>
              <a:latin typeface="Calibri"/>
              <a:ea typeface="Calibri"/>
              <a:cs typeface="Calibri"/>
              <a:sym typeface="Calibri"/>
            </a:endParaRPr>
          </a:p>
        </p:txBody>
      </p:sp>
      <p:sp>
        <p:nvSpPr>
          <p:cNvPr id="225" name="Google Shape;225;g343bd23a7fb_0_35"/>
          <p:cNvSpPr txBox="1"/>
          <p:nvPr/>
        </p:nvSpPr>
        <p:spPr>
          <a:xfrm>
            <a:off x="690900" y="5691200"/>
            <a:ext cx="10810200" cy="873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lang="en-US" sz="2082">
                <a:solidFill>
                  <a:schemeClr val="dk1"/>
                </a:solidFill>
              </a:rPr>
              <a:t>After the event, </a:t>
            </a:r>
            <a:r>
              <a:rPr lang="en-US" sz="2082">
                <a:solidFill>
                  <a:schemeClr val="dk1"/>
                </a:solidFill>
              </a:rPr>
              <a:t>the same level of emotion intensity has </a:t>
            </a:r>
            <a:r>
              <a:rPr b="1" lang="en-US" sz="2082">
                <a:solidFill>
                  <a:schemeClr val="dk1"/>
                </a:solidFill>
              </a:rPr>
              <a:t>higher sharing rates</a:t>
            </a:r>
            <a:r>
              <a:rPr lang="en-US" sz="2082">
                <a:solidFill>
                  <a:schemeClr val="dk1"/>
                </a:solidFill>
              </a:rPr>
              <a:t>, indicating that </a:t>
            </a:r>
            <a:r>
              <a:rPr lang="en-US" sz="2082">
                <a:solidFill>
                  <a:schemeClr val="dk1"/>
                </a:solidFill>
              </a:rPr>
              <a:t>retweets become more sensitive to emotional intensity.</a:t>
            </a:r>
            <a:endParaRPr/>
          </a:p>
        </p:txBody>
      </p:sp>
      <p:sp>
        <p:nvSpPr>
          <p:cNvPr id="226" name="Google Shape;226;g343bd23a7fb_0_35"/>
          <p:cNvSpPr txBox="1"/>
          <p:nvPr/>
        </p:nvSpPr>
        <p:spPr>
          <a:xfrm>
            <a:off x="5348650" y="1839050"/>
            <a:ext cx="4220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pic>
        <p:nvPicPr>
          <p:cNvPr id="227" name="Google Shape;227;g343bd23a7fb_0_35"/>
          <p:cNvPicPr preferRelativeResize="0"/>
          <p:nvPr/>
        </p:nvPicPr>
        <p:blipFill>
          <a:blip r:embed="rId3">
            <a:alphaModFix/>
          </a:blip>
          <a:stretch>
            <a:fillRect/>
          </a:stretch>
        </p:blipFill>
        <p:spPr>
          <a:xfrm>
            <a:off x="2198988" y="783000"/>
            <a:ext cx="7794025" cy="4649625"/>
          </a:xfrm>
          <a:prstGeom prst="rect">
            <a:avLst/>
          </a:prstGeom>
          <a:noFill/>
          <a:ln>
            <a:noFill/>
          </a:ln>
        </p:spPr>
      </p:pic>
      <p:sp>
        <p:nvSpPr>
          <p:cNvPr id="228" name="Google Shape;228;g343bd23a7fb_0_35"/>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18</a:t>
            </a:r>
            <a:endParaRPr sz="900">
              <a:solidFill>
                <a:srgbClr val="888888"/>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43bd23a7fb_2_19"/>
          <p:cNvSpPr txBox="1"/>
          <p:nvPr>
            <p:ph type="title"/>
          </p:nvPr>
        </p:nvSpPr>
        <p:spPr>
          <a:xfrm>
            <a:off x="838200" y="365125"/>
            <a:ext cx="10515600" cy="1325700"/>
          </a:xfrm>
          <a:prstGeom prst="rect">
            <a:avLst/>
          </a:prstGeom>
        </p:spPr>
        <p:txBody>
          <a:bodyPr anchorCtr="0" anchor="ctr" bIns="45700" lIns="91425" spcFirstLastPara="1" rIns="91425" wrap="square" tIns="45700">
            <a:normAutofit fontScale="90000"/>
          </a:bodyPr>
          <a:lstStyle/>
          <a:p>
            <a:pPr indent="-359058" lvl="0" marL="228600" rtl="0" algn="l">
              <a:lnSpc>
                <a:spcPct val="115000"/>
              </a:lnSpc>
              <a:spcBef>
                <a:spcPts val="2400"/>
              </a:spcBef>
              <a:spcAft>
                <a:spcPts val="0"/>
              </a:spcAft>
              <a:buSzPct val="113217"/>
              <a:buFont typeface="Arial"/>
              <a:buChar char="•"/>
            </a:pPr>
            <a:r>
              <a:rPr lang="en-US" sz="3782">
                <a:latin typeface="Arial"/>
                <a:ea typeface="Arial"/>
                <a:cs typeface="Arial"/>
                <a:sym typeface="Arial"/>
                <a:extLst>
                  <a:ext uri="http://customooxmlschemas.google.com/">
                    <go:slidesCustomData xmlns:go="http://customooxmlschemas.google.com/" textRoundtripDataId="1"/>
                  </a:ext>
                </a:extLst>
              </a:rPr>
              <a:t>RQ1: What role does emotion-intensity play before and after the ‘Murder of George Floyd’ incident?</a:t>
            </a:r>
            <a:endParaRPr/>
          </a:p>
        </p:txBody>
      </p:sp>
      <p:sp>
        <p:nvSpPr>
          <p:cNvPr id="234" name="Google Shape;234;g343bd23a7fb_2_19"/>
          <p:cNvSpPr txBox="1"/>
          <p:nvPr>
            <p:ph idx="1" type="body"/>
          </p:nvPr>
        </p:nvSpPr>
        <p:spPr>
          <a:xfrm>
            <a:off x="900125" y="2055700"/>
            <a:ext cx="10515600" cy="4351200"/>
          </a:xfrm>
          <a:prstGeom prst="rect">
            <a:avLst/>
          </a:prstGeom>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SzPts val="1800"/>
              <a:buFont typeface="Arial"/>
              <a:buAutoNum type="arabicPeriod"/>
            </a:pPr>
            <a:r>
              <a:rPr b="1" lang="en-US" sz="1800">
                <a:latin typeface="Arial"/>
                <a:ea typeface="Arial"/>
                <a:cs typeface="Arial"/>
                <a:sym typeface="Arial"/>
              </a:rPr>
              <a:t>Anger and sadness increased while joy declined</a:t>
            </a:r>
            <a:r>
              <a:rPr lang="en-US" sz="1800">
                <a:latin typeface="Arial"/>
                <a:ea typeface="Arial"/>
                <a:cs typeface="Arial"/>
                <a:sym typeface="Arial"/>
              </a:rPr>
              <a:t>, marking a shift toward emotions.</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AutoNum type="arabicPeriod"/>
            </a:pPr>
            <a:r>
              <a:rPr b="1" lang="en-US" sz="1800">
                <a:latin typeface="Arial"/>
                <a:ea typeface="Arial"/>
                <a:cs typeface="Arial"/>
                <a:sym typeface="Arial"/>
              </a:rPr>
              <a:t>Emotional intensity showed greater variance after the event,</a:t>
            </a:r>
            <a:r>
              <a:rPr lang="en-US" sz="1800">
                <a:latin typeface="Arial"/>
                <a:ea typeface="Arial"/>
                <a:cs typeface="Arial"/>
                <a:sym typeface="Arial"/>
              </a:rPr>
              <a:t> with this divergence linked to emotion type.</a:t>
            </a:r>
            <a:endParaRPr sz="18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AutoNum type="arabicPeriod"/>
            </a:pPr>
            <a:r>
              <a:rPr lang="en-US" sz="1800">
                <a:latin typeface="Arial"/>
                <a:ea typeface="Arial"/>
                <a:cs typeface="Arial"/>
                <a:sym typeface="Arial"/>
              </a:rPr>
              <a:t>There is a </a:t>
            </a:r>
            <a:r>
              <a:rPr b="1" lang="en-US" sz="1800">
                <a:latin typeface="Arial"/>
                <a:ea typeface="Arial"/>
                <a:cs typeface="Arial"/>
                <a:sym typeface="Arial"/>
              </a:rPr>
              <a:t>positive correlation</a:t>
            </a:r>
            <a:r>
              <a:rPr lang="en-US" sz="1800">
                <a:latin typeface="Arial"/>
                <a:ea typeface="Arial"/>
                <a:cs typeface="Arial"/>
                <a:sym typeface="Arial"/>
              </a:rPr>
              <a:t> between e</a:t>
            </a:r>
            <a:r>
              <a:rPr b="1" lang="en-US" sz="1800">
                <a:latin typeface="Arial"/>
                <a:ea typeface="Arial"/>
                <a:cs typeface="Arial"/>
                <a:sym typeface="Arial"/>
              </a:rPr>
              <a:t>motional intensity</a:t>
            </a:r>
            <a:r>
              <a:rPr lang="en-US" sz="1800">
                <a:latin typeface="Arial"/>
                <a:ea typeface="Arial"/>
                <a:cs typeface="Arial"/>
                <a:sym typeface="Arial"/>
              </a:rPr>
              <a:t> and </a:t>
            </a:r>
            <a:r>
              <a:rPr b="1" lang="en-US" sz="1800">
                <a:latin typeface="Arial"/>
                <a:ea typeface="Arial"/>
                <a:cs typeface="Arial"/>
                <a:sym typeface="Arial"/>
              </a:rPr>
              <a:t>retweet count</a:t>
            </a:r>
            <a:r>
              <a:rPr lang="en-US" sz="1800">
                <a:latin typeface="Arial"/>
                <a:ea typeface="Arial"/>
                <a:cs typeface="Arial"/>
                <a:sym typeface="Arial"/>
              </a:rPr>
              <a:t>. </a:t>
            </a:r>
            <a:r>
              <a:rPr b="1" lang="en-US" sz="1800">
                <a:latin typeface="Arial"/>
                <a:ea typeface="Arial"/>
                <a:cs typeface="Arial"/>
                <a:sym typeface="Arial"/>
              </a:rPr>
              <a:t>Given the same emotional intensity, post-event tweets received more retweets than pre-event ones,</a:t>
            </a:r>
            <a:r>
              <a:rPr lang="en-US" sz="1800">
                <a:latin typeface="Arial"/>
                <a:ea typeface="Arial"/>
                <a:cs typeface="Arial"/>
                <a:sym typeface="Arial"/>
              </a:rPr>
              <a:t> indicating increased sensitivity to emotion.</a:t>
            </a:r>
            <a:endParaRPr sz="1800">
              <a:latin typeface="Arial"/>
              <a:ea typeface="Arial"/>
              <a:cs typeface="Arial"/>
              <a:sym typeface="Arial"/>
            </a:endParaRPr>
          </a:p>
          <a:p>
            <a:pPr indent="0" lvl="0" marL="457200" rtl="0" algn="l">
              <a:lnSpc>
                <a:spcPct val="115000"/>
              </a:lnSpc>
              <a:spcBef>
                <a:spcPts val="1200"/>
              </a:spcBef>
              <a:spcAft>
                <a:spcPts val="0"/>
              </a:spcAft>
              <a:buNone/>
            </a:pPr>
            <a:r>
              <a:t/>
            </a:r>
            <a:endParaRPr sz="1800">
              <a:latin typeface="Arial"/>
              <a:ea typeface="Arial"/>
              <a:cs typeface="Arial"/>
              <a:sym typeface="Arial"/>
            </a:endParaRPr>
          </a:p>
          <a:p>
            <a:pPr indent="-342900" lvl="0" marL="457200" rtl="0" algn="l">
              <a:lnSpc>
                <a:spcPct val="115000"/>
              </a:lnSpc>
              <a:spcBef>
                <a:spcPts val="1200"/>
              </a:spcBef>
              <a:spcAft>
                <a:spcPts val="0"/>
              </a:spcAft>
              <a:buSzPts val="1800"/>
              <a:buFont typeface="Arial"/>
              <a:buAutoNum type="arabicPeriod"/>
            </a:pPr>
            <a:r>
              <a:rPr b="1" lang="en-US" sz="1800">
                <a:latin typeface="Arial"/>
                <a:ea typeface="Arial"/>
                <a:cs typeface="Arial"/>
                <a:sym typeface="Arial"/>
              </a:rPr>
              <a:t>Diagnostic</a:t>
            </a:r>
            <a:r>
              <a:rPr lang="en-US" sz="1800">
                <a:latin typeface="Arial"/>
                <a:ea typeface="Arial"/>
                <a:cs typeface="Arial"/>
                <a:sym typeface="Arial"/>
              </a:rPr>
              <a:t> and </a:t>
            </a:r>
            <a:r>
              <a:rPr b="1" lang="en-US" sz="1800">
                <a:latin typeface="Arial"/>
                <a:ea typeface="Arial"/>
                <a:cs typeface="Arial"/>
                <a:sym typeface="Arial"/>
              </a:rPr>
              <a:t>motivational framings</a:t>
            </a:r>
            <a:r>
              <a:rPr lang="en-US" sz="1800">
                <a:latin typeface="Arial"/>
                <a:ea typeface="Arial"/>
                <a:cs typeface="Arial"/>
                <a:sym typeface="Arial"/>
              </a:rPr>
              <a:t> both </a:t>
            </a:r>
            <a:r>
              <a:rPr b="1" lang="en-US" sz="1800">
                <a:latin typeface="Arial"/>
                <a:ea typeface="Arial"/>
                <a:cs typeface="Arial"/>
                <a:sym typeface="Arial"/>
              </a:rPr>
              <a:t>increased</a:t>
            </a:r>
            <a:r>
              <a:rPr lang="en-US" sz="1800">
                <a:latin typeface="Arial"/>
                <a:ea typeface="Arial"/>
                <a:cs typeface="Arial"/>
                <a:sym typeface="Arial"/>
              </a:rPr>
              <a:t> after the event, while irrelevant content dropped sharply and </a:t>
            </a:r>
            <a:r>
              <a:rPr b="1" lang="en-US" sz="1800">
                <a:latin typeface="Arial"/>
                <a:ea typeface="Arial"/>
                <a:cs typeface="Arial"/>
                <a:sym typeface="Arial"/>
              </a:rPr>
              <a:t>prognostic framing remained consistently low</a:t>
            </a:r>
            <a:r>
              <a:rPr lang="en-US" sz="1800">
                <a:latin typeface="Arial"/>
                <a:ea typeface="Arial"/>
                <a:cs typeface="Arial"/>
                <a:sym typeface="Arial"/>
              </a:rPr>
              <a:t>.</a:t>
            </a:r>
            <a:endParaRPr sz="1800">
              <a:latin typeface="Arial"/>
              <a:ea typeface="Arial"/>
              <a:cs typeface="Arial"/>
              <a:sym typeface="Arial"/>
            </a:endParaRPr>
          </a:p>
        </p:txBody>
      </p:sp>
      <p:sp>
        <p:nvSpPr>
          <p:cNvPr id="235" name="Google Shape;235;g343bd23a7fb_2_19"/>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19</a:t>
            </a:r>
            <a:endParaRPr sz="900">
              <a:solidFill>
                <a:srgbClr val="888888"/>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g343bd23a7fb_0_57"/>
          <p:cNvSpPr txBox="1"/>
          <p:nvPr>
            <p:ph idx="1" type="body"/>
          </p:nvPr>
        </p:nvSpPr>
        <p:spPr>
          <a:xfrm>
            <a:off x="469575" y="2199400"/>
            <a:ext cx="11671200" cy="5021400"/>
          </a:xfrm>
          <a:prstGeom prst="rect">
            <a:avLst/>
          </a:prstGeom>
          <a:noFill/>
          <a:ln>
            <a:noFill/>
          </a:ln>
        </p:spPr>
        <p:txBody>
          <a:bodyPr anchorCtr="0" anchor="t" bIns="45700" lIns="91425" spcFirstLastPara="1" rIns="91425" wrap="square" tIns="45700">
            <a:normAutofit fontScale="40000" lnSpcReduction="10000"/>
          </a:bodyPr>
          <a:lstStyle/>
          <a:p>
            <a:pPr indent="0" lvl="0" marL="0" rtl="0" algn="l">
              <a:lnSpc>
                <a:spcPct val="115000"/>
              </a:lnSpc>
              <a:spcBef>
                <a:spcPts val="1200"/>
              </a:spcBef>
              <a:spcAft>
                <a:spcPts val="0"/>
              </a:spcAft>
              <a:buNone/>
            </a:pPr>
            <a:r>
              <a:rPr lang="en-US" sz="4700">
                <a:latin typeface="Arial"/>
                <a:ea typeface="Arial"/>
                <a:cs typeface="Arial"/>
                <a:sym typeface="Arial"/>
              </a:rPr>
              <a:t>The </a:t>
            </a:r>
            <a:r>
              <a:rPr b="1" lang="en-US" sz="4700">
                <a:latin typeface="Arial"/>
                <a:ea typeface="Arial"/>
                <a:cs typeface="Arial"/>
                <a:sym typeface="Arial"/>
              </a:rPr>
              <a:t>Users networks</a:t>
            </a:r>
            <a:r>
              <a:rPr lang="en-US" sz="4700">
                <a:latin typeface="Arial"/>
                <a:ea typeface="Arial"/>
                <a:cs typeface="Arial"/>
                <a:sym typeface="Arial"/>
              </a:rPr>
              <a:t>:</a:t>
            </a:r>
            <a:endParaRPr sz="4700">
              <a:latin typeface="Arial"/>
              <a:ea typeface="Arial"/>
              <a:cs typeface="Arial"/>
              <a:sym typeface="Arial"/>
            </a:endParaRPr>
          </a:p>
          <a:p>
            <a:pPr indent="0" lvl="0" marL="0" rtl="0" algn="l">
              <a:lnSpc>
                <a:spcPct val="115000"/>
              </a:lnSpc>
              <a:spcBef>
                <a:spcPts val="1200"/>
              </a:spcBef>
              <a:spcAft>
                <a:spcPts val="0"/>
              </a:spcAft>
              <a:buClr>
                <a:schemeClr val="dk1"/>
              </a:buClr>
              <a:buSzPts val="440"/>
              <a:buFont typeface="Arial"/>
              <a:buNone/>
            </a:pPr>
            <a:r>
              <a:t/>
            </a:r>
            <a:endParaRPr sz="4700">
              <a:latin typeface="Arial"/>
              <a:ea typeface="Arial"/>
              <a:cs typeface="Arial"/>
              <a:sym typeface="Arial"/>
            </a:endParaRPr>
          </a:p>
          <a:p>
            <a:pPr indent="0" lvl="0" marL="0" rtl="0" algn="l">
              <a:lnSpc>
                <a:spcPct val="115000"/>
              </a:lnSpc>
              <a:spcBef>
                <a:spcPts val="1200"/>
              </a:spcBef>
              <a:spcAft>
                <a:spcPts val="0"/>
              </a:spcAft>
              <a:buClr>
                <a:schemeClr val="dk1"/>
              </a:buClr>
              <a:buSzPts val="440"/>
              <a:buFont typeface="Arial"/>
              <a:buNone/>
            </a:pPr>
            <a:r>
              <a:rPr b="1" lang="en-US" sz="4700">
                <a:latin typeface="Arial"/>
                <a:ea typeface="Arial"/>
                <a:cs typeface="Arial"/>
                <a:sym typeface="Arial"/>
              </a:rPr>
              <a:t>Nodes:</a:t>
            </a:r>
            <a:r>
              <a:rPr lang="en-US" sz="4700">
                <a:latin typeface="Arial"/>
                <a:ea typeface="Arial"/>
                <a:cs typeface="Arial"/>
                <a:sym typeface="Arial"/>
              </a:rPr>
              <a:t> Individual users.</a:t>
            </a:r>
            <a:endParaRPr sz="4700">
              <a:latin typeface="Arial"/>
              <a:ea typeface="Arial"/>
              <a:cs typeface="Arial"/>
              <a:sym typeface="Arial"/>
            </a:endParaRPr>
          </a:p>
          <a:p>
            <a:pPr indent="0" lvl="0" marL="0" rtl="0" algn="l">
              <a:lnSpc>
                <a:spcPct val="115000"/>
              </a:lnSpc>
              <a:spcBef>
                <a:spcPts val="1200"/>
              </a:spcBef>
              <a:spcAft>
                <a:spcPts val="0"/>
              </a:spcAft>
              <a:buNone/>
            </a:pPr>
            <a:r>
              <a:rPr b="1" lang="en-US" sz="4700">
                <a:latin typeface="Arial"/>
                <a:ea typeface="Arial"/>
                <a:cs typeface="Arial"/>
                <a:sym typeface="Arial"/>
                <a:extLst>
                  <a:ext uri="http://customooxmlschemas.google.com/">
                    <go:slidesCustomData xmlns:go="http://customooxmlschemas.google.com/" textRoundtripDataId="2"/>
                  </a:ext>
                </a:extLst>
              </a:rPr>
              <a:t>Edges</a:t>
            </a:r>
            <a:r>
              <a:rPr lang="en-US" sz="4700">
                <a:latin typeface="Arial"/>
                <a:ea typeface="Arial"/>
                <a:cs typeface="Arial"/>
                <a:sym typeface="Arial"/>
              </a:rPr>
              <a:t>: Retweet activity between users </a:t>
            </a:r>
            <a:br>
              <a:rPr lang="en-US" sz="4700">
                <a:latin typeface="Arial"/>
                <a:ea typeface="Arial"/>
                <a:cs typeface="Arial"/>
                <a:sym typeface="Arial"/>
              </a:rPr>
            </a:br>
            <a:r>
              <a:rPr lang="en-US" sz="4700">
                <a:latin typeface="Arial"/>
                <a:ea typeface="Arial"/>
                <a:cs typeface="Arial"/>
                <a:sym typeface="Arial"/>
              </a:rPr>
              <a:t>Direction: retweeter → original poster </a:t>
            </a:r>
            <a:endParaRPr sz="4700">
              <a:latin typeface="Arial"/>
              <a:ea typeface="Arial"/>
              <a:cs typeface="Arial"/>
              <a:sym typeface="Arial"/>
            </a:endParaRPr>
          </a:p>
          <a:p>
            <a:pPr indent="0" lvl="0" marL="0" rtl="0" algn="l">
              <a:lnSpc>
                <a:spcPct val="115000"/>
              </a:lnSpc>
              <a:spcBef>
                <a:spcPts val="2400"/>
              </a:spcBef>
              <a:spcAft>
                <a:spcPts val="0"/>
              </a:spcAft>
              <a:buNone/>
            </a:pPr>
            <a:r>
              <a:rPr lang="en-US" sz="4700">
                <a:latin typeface="Arial"/>
                <a:ea typeface="Arial"/>
                <a:cs typeface="Arial"/>
                <a:sym typeface="Arial"/>
              </a:rPr>
              <a:t>Is mobilization </a:t>
            </a:r>
            <a:r>
              <a:rPr b="1" lang="en-US" sz="4700">
                <a:latin typeface="Arial"/>
                <a:ea typeface="Arial"/>
                <a:cs typeface="Arial"/>
                <a:sym typeface="Arial"/>
              </a:rPr>
              <a:t>broadcast-driven</a:t>
            </a:r>
            <a:r>
              <a:rPr lang="en-US" sz="4700">
                <a:latin typeface="Arial"/>
                <a:ea typeface="Arial"/>
                <a:cs typeface="Arial"/>
                <a:sym typeface="Arial"/>
              </a:rPr>
              <a:t> or </a:t>
            </a:r>
            <a:r>
              <a:rPr b="1" lang="en-US" sz="4700">
                <a:latin typeface="Arial"/>
                <a:ea typeface="Arial"/>
                <a:cs typeface="Arial"/>
                <a:sym typeface="Arial"/>
              </a:rPr>
              <a:t>peer-based</a:t>
            </a:r>
            <a:r>
              <a:rPr lang="en-US" sz="4700">
                <a:latin typeface="Arial"/>
                <a:ea typeface="Arial"/>
                <a:cs typeface="Arial"/>
                <a:sym typeface="Arial"/>
              </a:rPr>
              <a:t> ?</a:t>
            </a:r>
            <a:endParaRPr sz="4700">
              <a:latin typeface="Arial"/>
              <a:ea typeface="Arial"/>
              <a:cs typeface="Arial"/>
              <a:sym typeface="Arial"/>
            </a:endParaRPr>
          </a:p>
          <a:p>
            <a:pPr indent="0" lvl="0" marL="0" rtl="0" algn="l">
              <a:lnSpc>
                <a:spcPct val="115000"/>
              </a:lnSpc>
              <a:spcBef>
                <a:spcPts val="2400"/>
              </a:spcBef>
              <a:spcAft>
                <a:spcPts val="0"/>
              </a:spcAft>
              <a:buNone/>
            </a:pPr>
            <a:r>
              <a:t/>
            </a:r>
            <a:endParaRPr sz="2082">
              <a:latin typeface="Arial"/>
              <a:ea typeface="Arial"/>
              <a:cs typeface="Arial"/>
              <a:sym typeface="Arial"/>
            </a:endParaRPr>
          </a:p>
          <a:p>
            <a:pPr indent="0" lvl="0" marL="0" rtl="0" algn="l">
              <a:lnSpc>
                <a:spcPct val="115000"/>
              </a:lnSpc>
              <a:spcBef>
                <a:spcPts val="2400"/>
              </a:spcBef>
              <a:spcAft>
                <a:spcPts val="0"/>
              </a:spcAft>
              <a:buNone/>
            </a:pPr>
            <a:r>
              <a:t/>
            </a:r>
            <a:endParaRPr sz="4282"/>
          </a:p>
          <a:p>
            <a:pPr indent="0" lvl="0" marL="0" rtl="0" algn="l">
              <a:lnSpc>
                <a:spcPct val="115000"/>
              </a:lnSpc>
              <a:spcBef>
                <a:spcPts val="2400"/>
              </a:spcBef>
              <a:spcAft>
                <a:spcPts val="0"/>
              </a:spcAft>
              <a:buNone/>
            </a:pPr>
            <a:r>
              <a:t/>
            </a:r>
            <a:endParaRPr/>
          </a:p>
          <a:p>
            <a:pPr indent="0" lvl="0" marL="0" rtl="0" algn="l">
              <a:lnSpc>
                <a:spcPct val="115000"/>
              </a:lnSpc>
              <a:spcBef>
                <a:spcPts val="2400"/>
              </a:spcBef>
              <a:spcAft>
                <a:spcPts val="0"/>
              </a:spcAft>
              <a:buNone/>
            </a:pPr>
            <a:r>
              <a:t/>
            </a:r>
            <a:endParaRPr/>
          </a:p>
          <a:p>
            <a:pPr indent="0" lvl="0" marL="0" rtl="0" algn="l">
              <a:lnSpc>
                <a:spcPct val="90000"/>
              </a:lnSpc>
              <a:spcBef>
                <a:spcPts val="1000"/>
              </a:spcBef>
              <a:spcAft>
                <a:spcPts val="0"/>
              </a:spcAft>
              <a:buNone/>
            </a:pPr>
            <a:r>
              <a:t/>
            </a:r>
            <a:endParaRPr/>
          </a:p>
        </p:txBody>
      </p:sp>
      <p:sp>
        <p:nvSpPr>
          <p:cNvPr id="241" name="Google Shape;241;g343bd23a7fb_0_57"/>
          <p:cNvSpPr txBox="1"/>
          <p:nvPr>
            <p:ph type="title"/>
          </p:nvPr>
        </p:nvSpPr>
        <p:spPr>
          <a:xfrm>
            <a:off x="469575" y="433600"/>
            <a:ext cx="10804200" cy="10485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US" sz="2250">
                <a:latin typeface="Arial"/>
                <a:ea typeface="Arial"/>
                <a:cs typeface="Arial"/>
                <a:sym typeface="Arial"/>
              </a:rPr>
              <a:t>Question 2: </a:t>
            </a:r>
            <a:r>
              <a:rPr b="1" lang="en-US" sz="2200">
                <a:latin typeface="Arial"/>
                <a:ea typeface="Arial"/>
                <a:cs typeface="Arial"/>
                <a:sym typeface="Arial"/>
              </a:rPr>
              <a:t>How does network structure influence the reach and shape of online mobilization?</a:t>
            </a:r>
            <a:endParaRPr b="1" sz="2200">
              <a:latin typeface="Arial"/>
              <a:ea typeface="Arial"/>
              <a:cs typeface="Arial"/>
              <a:sym typeface="Arial"/>
            </a:endParaRPr>
          </a:p>
          <a:p>
            <a:pPr indent="0" lvl="0" marL="0" rtl="0" algn="ctr">
              <a:spcBef>
                <a:spcPts val="0"/>
              </a:spcBef>
              <a:spcAft>
                <a:spcPts val="0"/>
              </a:spcAft>
              <a:buClr>
                <a:schemeClr val="dk1"/>
              </a:buClr>
              <a:buSzPts val="4400"/>
              <a:buFont typeface="Calibri"/>
              <a:buNone/>
            </a:pPr>
            <a:r>
              <a:t/>
            </a:r>
            <a:endParaRPr b="1" sz="2250">
              <a:latin typeface="Arial"/>
              <a:ea typeface="Arial"/>
              <a:cs typeface="Arial"/>
              <a:sym typeface="Arial"/>
            </a:endParaRPr>
          </a:p>
        </p:txBody>
      </p:sp>
      <p:pic>
        <p:nvPicPr>
          <p:cNvPr id="242" name="Google Shape;242;g343bd23a7fb_0_57"/>
          <p:cNvPicPr preferRelativeResize="0"/>
          <p:nvPr/>
        </p:nvPicPr>
        <p:blipFill>
          <a:blip r:embed="rId3">
            <a:alphaModFix/>
          </a:blip>
          <a:stretch>
            <a:fillRect/>
          </a:stretch>
        </p:blipFill>
        <p:spPr>
          <a:xfrm>
            <a:off x="6945125" y="2059450"/>
            <a:ext cx="5039549" cy="3648175"/>
          </a:xfrm>
          <a:prstGeom prst="rect">
            <a:avLst/>
          </a:prstGeom>
          <a:noFill/>
          <a:ln>
            <a:noFill/>
          </a:ln>
        </p:spPr>
      </p:pic>
      <p:sp>
        <p:nvSpPr>
          <p:cNvPr id="243" name="Google Shape;243;g343bd23a7fb_0_57"/>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20</a:t>
            </a:r>
            <a:endParaRPr sz="900">
              <a:solidFill>
                <a:srgbClr val="888888"/>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343bd23a7fb_2_29"/>
          <p:cNvSpPr txBox="1"/>
          <p:nvPr>
            <p:ph type="title"/>
          </p:nvPr>
        </p:nvSpPr>
        <p:spPr>
          <a:xfrm>
            <a:off x="223500" y="0"/>
            <a:ext cx="117450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3600"/>
              <a:t>Strong and Weak ties in the Retweet Network</a:t>
            </a:r>
            <a:endParaRPr b="1" sz="3600"/>
          </a:p>
        </p:txBody>
      </p:sp>
      <p:sp>
        <p:nvSpPr>
          <p:cNvPr id="249" name="Google Shape;249;g343bd23a7fb_2_29"/>
          <p:cNvSpPr txBox="1"/>
          <p:nvPr>
            <p:ph idx="1" type="body"/>
          </p:nvPr>
        </p:nvSpPr>
        <p:spPr>
          <a:xfrm>
            <a:off x="519625" y="1869800"/>
            <a:ext cx="113538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b="1" lang="en-US" sz="2900"/>
              <a:t>Strong tie connection</a:t>
            </a:r>
            <a:r>
              <a:rPr lang="en-US" sz="2900"/>
              <a:t>: </a:t>
            </a:r>
            <a:endParaRPr sz="2900"/>
          </a:p>
          <a:p>
            <a:pPr indent="0" lvl="0" marL="0" rtl="0" algn="l">
              <a:spcBef>
                <a:spcPts val="1000"/>
              </a:spcBef>
              <a:spcAft>
                <a:spcPts val="0"/>
              </a:spcAft>
              <a:buClr>
                <a:schemeClr val="dk1"/>
              </a:buClr>
              <a:buSzPts val="1100"/>
              <a:buFont typeface="Arial"/>
              <a:buNone/>
            </a:pPr>
            <a:r>
              <a:rPr lang="en-US" sz="2900"/>
              <a:t>mutual retweet relationships (User A ↔ User B)</a:t>
            </a:r>
            <a:endParaRPr sz="2900"/>
          </a:p>
          <a:p>
            <a:pPr indent="0" lvl="0" marL="0" rtl="0" algn="l">
              <a:spcBef>
                <a:spcPts val="1000"/>
              </a:spcBef>
              <a:spcAft>
                <a:spcPts val="0"/>
              </a:spcAft>
              <a:buClr>
                <a:schemeClr val="dk1"/>
              </a:buClr>
              <a:buSzPts val="1100"/>
              <a:buFont typeface="Arial"/>
              <a:buNone/>
            </a:pPr>
            <a:r>
              <a:t/>
            </a:r>
            <a:endParaRPr sz="2900"/>
          </a:p>
          <a:p>
            <a:pPr indent="0" lvl="0" marL="0" rtl="0" algn="l">
              <a:spcBef>
                <a:spcPts val="1000"/>
              </a:spcBef>
              <a:spcAft>
                <a:spcPts val="0"/>
              </a:spcAft>
              <a:buNone/>
            </a:pPr>
            <a:r>
              <a:rPr b="1" lang="en-US" sz="2900"/>
              <a:t>Weak tie connection</a:t>
            </a:r>
            <a:r>
              <a:rPr lang="en-US" sz="2900"/>
              <a:t>: </a:t>
            </a:r>
            <a:endParaRPr sz="2900"/>
          </a:p>
          <a:p>
            <a:pPr indent="0" lvl="0" marL="0" rtl="0" algn="l">
              <a:spcBef>
                <a:spcPts val="1000"/>
              </a:spcBef>
              <a:spcAft>
                <a:spcPts val="0"/>
              </a:spcAft>
              <a:buNone/>
            </a:pPr>
            <a:r>
              <a:rPr lang="en-US" sz="2900"/>
              <a:t>one-way retweet only (User A → User B)</a:t>
            </a:r>
            <a:endParaRPr sz="2900"/>
          </a:p>
        </p:txBody>
      </p:sp>
      <p:pic>
        <p:nvPicPr>
          <p:cNvPr id="250" name="Google Shape;250;g343bd23a7fb_2_29"/>
          <p:cNvPicPr preferRelativeResize="0"/>
          <p:nvPr/>
        </p:nvPicPr>
        <p:blipFill>
          <a:blip r:embed="rId3">
            <a:alphaModFix/>
          </a:blip>
          <a:stretch>
            <a:fillRect/>
          </a:stretch>
        </p:blipFill>
        <p:spPr>
          <a:xfrm>
            <a:off x="8082625" y="1731712"/>
            <a:ext cx="3394575" cy="3394575"/>
          </a:xfrm>
          <a:prstGeom prst="rect">
            <a:avLst/>
          </a:prstGeom>
          <a:noFill/>
          <a:ln>
            <a:noFill/>
          </a:ln>
        </p:spPr>
      </p:pic>
      <p:sp>
        <p:nvSpPr>
          <p:cNvPr id="251" name="Google Shape;251;g343bd23a7fb_2_29"/>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a:t>
            </a:r>
            <a:r>
              <a:rPr lang="en-US" sz="900">
                <a:solidFill>
                  <a:srgbClr val="888888"/>
                </a:solidFill>
              </a:rPr>
              <a:t>1</a:t>
            </a:r>
            <a:endParaRPr sz="900">
              <a:solidFill>
                <a:srgbClr val="88888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45d982277e_1_76"/>
          <p:cNvSpPr txBox="1"/>
          <p:nvPr>
            <p:ph type="title"/>
          </p:nvPr>
        </p:nvSpPr>
        <p:spPr>
          <a:xfrm>
            <a:off x="304800" y="12150"/>
            <a:ext cx="11745000" cy="9918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Clr>
                <a:schemeClr val="dk1"/>
              </a:buClr>
              <a:buSzPts val="1100"/>
              <a:buFont typeface="Arial"/>
              <a:buNone/>
            </a:pPr>
            <a:r>
              <a:rPr b="1" lang="en-US" sz="3000">
                <a:latin typeface="Arial"/>
                <a:ea typeface="Arial"/>
                <a:cs typeface="Arial"/>
                <a:sym typeface="Arial"/>
              </a:rPr>
              <a:t>N</a:t>
            </a:r>
            <a:r>
              <a:rPr b="1" lang="en-US" sz="3000">
                <a:latin typeface="Arial"/>
                <a:ea typeface="Arial"/>
                <a:cs typeface="Arial"/>
                <a:sym typeface="Arial"/>
              </a:rPr>
              <a:t>etwork structure difference before and after the event</a:t>
            </a:r>
            <a:endParaRPr sz="3000"/>
          </a:p>
        </p:txBody>
      </p:sp>
      <p:sp>
        <p:nvSpPr>
          <p:cNvPr id="257" name="Google Shape;257;g345d982277e_1_76"/>
          <p:cNvSpPr txBox="1"/>
          <p:nvPr/>
        </p:nvSpPr>
        <p:spPr>
          <a:xfrm>
            <a:off x="1176925" y="5636825"/>
            <a:ext cx="509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58" name="Google Shape;258;g345d982277e_1_76"/>
          <p:cNvSpPr txBox="1"/>
          <p:nvPr/>
        </p:nvSpPr>
        <p:spPr>
          <a:xfrm>
            <a:off x="876000" y="5485175"/>
            <a:ext cx="11163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50">
                <a:solidFill>
                  <a:schemeClr val="dk1"/>
                </a:solidFill>
                <a:latin typeface="Calibri"/>
                <a:ea typeface="Calibri"/>
                <a:cs typeface="Calibri"/>
                <a:sym typeface="Calibri"/>
              </a:rPr>
              <a:t>After the event, </a:t>
            </a:r>
            <a:r>
              <a:rPr b="1" lang="en-US" sz="2250">
                <a:solidFill>
                  <a:schemeClr val="dk1"/>
                </a:solidFill>
                <a:latin typeface="Calibri"/>
                <a:ea typeface="Calibri"/>
                <a:cs typeface="Calibri"/>
                <a:sym typeface="Calibri"/>
              </a:rPr>
              <a:t>strong ties declined</a:t>
            </a:r>
            <a:r>
              <a:rPr lang="en-US" sz="2250">
                <a:solidFill>
                  <a:schemeClr val="dk1"/>
                </a:solidFill>
                <a:latin typeface="Calibri"/>
                <a:ea typeface="Calibri"/>
                <a:cs typeface="Calibri"/>
                <a:sym typeface="Calibri"/>
              </a:rPr>
              <a:t> sharply, suggesting a shift toward a more </a:t>
            </a:r>
            <a:r>
              <a:rPr b="1" lang="en-US" sz="2250">
                <a:solidFill>
                  <a:schemeClr val="dk1"/>
                </a:solidFill>
                <a:latin typeface="Calibri"/>
                <a:ea typeface="Calibri"/>
                <a:cs typeface="Calibri"/>
                <a:sym typeface="Calibri"/>
              </a:rPr>
              <a:t>broadcast-oriented</a:t>
            </a:r>
            <a:r>
              <a:rPr lang="en-US" sz="2250">
                <a:solidFill>
                  <a:schemeClr val="dk1"/>
                </a:solidFill>
                <a:latin typeface="Calibri"/>
                <a:ea typeface="Calibri"/>
                <a:cs typeface="Calibri"/>
                <a:sym typeface="Calibri"/>
              </a:rPr>
              <a:t> network.</a:t>
            </a:r>
            <a:endParaRPr sz="2250">
              <a:solidFill>
                <a:schemeClr val="dk1"/>
              </a:solidFill>
              <a:latin typeface="Calibri"/>
              <a:ea typeface="Calibri"/>
              <a:cs typeface="Calibri"/>
              <a:sym typeface="Calibri"/>
            </a:endParaRPr>
          </a:p>
        </p:txBody>
      </p:sp>
      <p:pic>
        <p:nvPicPr>
          <p:cNvPr id="259" name="Google Shape;259;g345d982277e_1_76"/>
          <p:cNvPicPr preferRelativeResize="0"/>
          <p:nvPr/>
        </p:nvPicPr>
        <p:blipFill>
          <a:blip r:embed="rId3">
            <a:alphaModFix/>
          </a:blip>
          <a:stretch>
            <a:fillRect/>
          </a:stretch>
        </p:blipFill>
        <p:spPr>
          <a:xfrm>
            <a:off x="583025" y="1003962"/>
            <a:ext cx="5823625" cy="4338025"/>
          </a:xfrm>
          <a:prstGeom prst="rect">
            <a:avLst/>
          </a:prstGeom>
          <a:noFill/>
          <a:ln>
            <a:noFill/>
          </a:ln>
        </p:spPr>
      </p:pic>
      <p:pic>
        <p:nvPicPr>
          <p:cNvPr id="260" name="Google Shape;260;g345d982277e_1_76"/>
          <p:cNvPicPr preferRelativeResize="0"/>
          <p:nvPr/>
        </p:nvPicPr>
        <p:blipFill>
          <a:blip r:embed="rId4">
            <a:alphaModFix/>
          </a:blip>
          <a:stretch>
            <a:fillRect/>
          </a:stretch>
        </p:blipFill>
        <p:spPr>
          <a:xfrm>
            <a:off x="6458325" y="1000250"/>
            <a:ext cx="5823625" cy="4345433"/>
          </a:xfrm>
          <a:prstGeom prst="rect">
            <a:avLst/>
          </a:prstGeom>
          <a:noFill/>
          <a:ln>
            <a:noFill/>
          </a:ln>
        </p:spPr>
      </p:pic>
      <p:sp>
        <p:nvSpPr>
          <p:cNvPr id="261" name="Google Shape;261;g345d982277e_1_76"/>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22</a:t>
            </a:r>
            <a:endParaRPr sz="900">
              <a:solidFill>
                <a:srgbClr val="888888"/>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3463cbfe385_0_28"/>
          <p:cNvSpPr txBox="1"/>
          <p:nvPr>
            <p:ph type="title"/>
          </p:nvPr>
        </p:nvSpPr>
        <p:spPr>
          <a:xfrm>
            <a:off x="223500" y="82000"/>
            <a:ext cx="11745000" cy="10710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Clr>
                <a:schemeClr val="dk1"/>
              </a:buClr>
              <a:buSzPts val="1100"/>
              <a:buFont typeface="Arial"/>
              <a:buNone/>
            </a:pPr>
            <a:r>
              <a:rPr b="1" lang="en-US" sz="3000">
                <a:latin typeface="Arial"/>
                <a:ea typeface="Arial"/>
                <a:cs typeface="Arial"/>
                <a:sym typeface="Arial"/>
              </a:rPr>
              <a:t>Network structure difference before and after the event</a:t>
            </a:r>
            <a:endParaRPr sz="3000"/>
          </a:p>
        </p:txBody>
      </p:sp>
      <p:sp>
        <p:nvSpPr>
          <p:cNvPr id="267" name="Google Shape;267;g3463cbfe385_0_28"/>
          <p:cNvSpPr txBox="1"/>
          <p:nvPr/>
        </p:nvSpPr>
        <p:spPr>
          <a:xfrm>
            <a:off x="1176925" y="5636825"/>
            <a:ext cx="5097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800">
              <a:solidFill>
                <a:schemeClr val="dk1"/>
              </a:solidFill>
              <a:latin typeface="Calibri"/>
              <a:ea typeface="Calibri"/>
              <a:cs typeface="Calibri"/>
              <a:sym typeface="Calibri"/>
            </a:endParaRPr>
          </a:p>
        </p:txBody>
      </p:sp>
      <p:sp>
        <p:nvSpPr>
          <p:cNvPr id="268" name="Google Shape;268;g3463cbfe385_0_28"/>
          <p:cNvSpPr txBox="1"/>
          <p:nvPr/>
        </p:nvSpPr>
        <p:spPr>
          <a:xfrm>
            <a:off x="884850" y="5916800"/>
            <a:ext cx="11163600" cy="43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US" sz="1600">
                <a:solidFill>
                  <a:schemeClr val="dk1"/>
                </a:solidFill>
              </a:rPr>
              <a:t>Small number of users receive the most attention, this became even more significant after the event.</a:t>
            </a:r>
            <a:endParaRPr sz="2750">
              <a:solidFill>
                <a:schemeClr val="dk1"/>
              </a:solidFill>
              <a:latin typeface="Calibri"/>
              <a:ea typeface="Calibri"/>
              <a:cs typeface="Calibri"/>
              <a:sym typeface="Calibri"/>
            </a:endParaRPr>
          </a:p>
        </p:txBody>
      </p:sp>
      <p:pic>
        <p:nvPicPr>
          <p:cNvPr id="269" name="Google Shape;269;g3463cbfe385_0_28"/>
          <p:cNvPicPr preferRelativeResize="0"/>
          <p:nvPr/>
        </p:nvPicPr>
        <p:blipFill>
          <a:blip r:embed="rId3">
            <a:alphaModFix/>
          </a:blip>
          <a:stretch>
            <a:fillRect/>
          </a:stretch>
        </p:blipFill>
        <p:spPr>
          <a:xfrm>
            <a:off x="2976675" y="1153000"/>
            <a:ext cx="6367901" cy="4431925"/>
          </a:xfrm>
          <a:prstGeom prst="rect">
            <a:avLst/>
          </a:prstGeom>
          <a:noFill/>
          <a:ln>
            <a:noFill/>
          </a:ln>
        </p:spPr>
      </p:pic>
      <p:sp>
        <p:nvSpPr>
          <p:cNvPr id="270" name="Google Shape;270;g3463cbfe385_0_28"/>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23</a:t>
            </a:r>
            <a:endParaRPr sz="900">
              <a:solidFill>
                <a:srgbClr val="888888"/>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45d982277e_1_100"/>
          <p:cNvSpPr txBox="1"/>
          <p:nvPr>
            <p:ph type="title"/>
          </p:nvPr>
        </p:nvSpPr>
        <p:spPr>
          <a:xfrm>
            <a:off x="223500" y="64225"/>
            <a:ext cx="11745000" cy="969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a:t>From user network to community network</a:t>
            </a:r>
            <a:endParaRPr b="1" sz="4000"/>
          </a:p>
        </p:txBody>
      </p:sp>
      <p:sp>
        <p:nvSpPr>
          <p:cNvPr id="276" name="Google Shape;276;g345d982277e_1_100"/>
          <p:cNvSpPr txBox="1"/>
          <p:nvPr>
            <p:ph idx="1" type="body"/>
          </p:nvPr>
        </p:nvSpPr>
        <p:spPr>
          <a:xfrm>
            <a:off x="847050" y="1389925"/>
            <a:ext cx="11353800" cy="1802400"/>
          </a:xfrm>
          <a:prstGeom prst="rect">
            <a:avLst/>
          </a:prstGeom>
        </p:spPr>
        <p:txBody>
          <a:bodyPr anchorCtr="0" anchor="t" bIns="45700" lIns="91425" spcFirstLastPara="1" rIns="91425" wrap="square" tIns="45700">
            <a:normAutofit fontScale="47500" lnSpcReduction="20000"/>
          </a:bodyPr>
          <a:lstStyle/>
          <a:p>
            <a:pPr indent="0" lvl="0" marL="0" rtl="0" algn="l">
              <a:lnSpc>
                <a:spcPct val="115000"/>
              </a:lnSpc>
              <a:spcBef>
                <a:spcPts val="1200"/>
              </a:spcBef>
              <a:spcAft>
                <a:spcPts val="0"/>
              </a:spcAft>
              <a:buNone/>
            </a:pPr>
            <a:r>
              <a:rPr lang="en-US" sz="3410">
                <a:latin typeface="Arial"/>
                <a:ea typeface="Arial"/>
                <a:cs typeface="Arial"/>
                <a:sym typeface="Arial"/>
              </a:rPr>
              <a:t>User-level analysis highlights changes in </a:t>
            </a:r>
            <a:r>
              <a:rPr b="1" lang="en-US" sz="3410">
                <a:latin typeface="Arial"/>
                <a:ea typeface="Arial"/>
                <a:cs typeface="Arial"/>
                <a:sym typeface="Arial"/>
              </a:rPr>
              <a:t>network interaction types</a:t>
            </a:r>
            <a:r>
              <a:rPr lang="en-US" sz="3410">
                <a:latin typeface="Arial"/>
                <a:ea typeface="Arial"/>
                <a:cs typeface="Arial"/>
                <a:sym typeface="Arial"/>
              </a:rPr>
              <a:t>, but </a:t>
            </a:r>
            <a:r>
              <a:rPr b="1" lang="en-US" sz="3410">
                <a:latin typeface="Arial"/>
                <a:ea typeface="Arial"/>
                <a:cs typeface="Arial"/>
                <a:sym typeface="Arial"/>
              </a:rPr>
              <a:t>misses how groups interact.</a:t>
            </a:r>
            <a:endParaRPr b="1" sz="3410">
              <a:latin typeface="Arial"/>
              <a:ea typeface="Arial"/>
              <a:cs typeface="Arial"/>
              <a:sym typeface="Arial"/>
            </a:endParaRPr>
          </a:p>
          <a:p>
            <a:pPr indent="0" lvl="0" marL="0" rtl="0" algn="l">
              <a:lnSpc>
                <a:spcPct val="115000"/>
              </a:lnSpc>
              <a:spcBef>
                <a:spcPts val="1200"/>
              </a:spcBef>
              <a:spcAft>
                <a:spcPts val="0"/>
              </a:spcAft>
              <a:buNone/>
            </a:pPr>
            <a:r>
              <a:t/>
            </a:r>
            <a:endParaRPr b="1" sz="3410">
              <a:latin typeface="Arial"/>
              <a:ea typeface="Arial"/>
              <a:cs typeface="Arial"/>
              <a:sym typeface="Arial"/>
            </a:endParaRPr>
          </a:p>
          <a:p>
            <a:pPr indent="0" lvl="0" marL="0" rtl="0" algn="l">
              <a:lnSpc>
                <a:spcPct val="115000"/>
              </a:lnSpc>
              <a:spcBef>
                <a:spcPts val="1200"/>
              </a:spcBef>
              <a:spcAft>
                <a:spcPts val="0"/>
              </a:spcAft>
              <a:buNone/>
            </a:pPr>
            <a:r>
              <a:rPr lang="en-US" sz="3410">
                <a:latin typeface="Arial"/>
                <a:ea typeface="Arial"/>
                <a:cs typeface="Arial"/>
                <a:sym typeface="Arial"/>
              </a:rPr>
              <a:t>Prior studies suggest </a:t>
            </a:r>
            <a:r>
              <a:rPr b="1" lang="en-US" sz="3410">
                <a:latin typeface="Arial"/>
                <a:ea typeface="Arial"/>
                <a:cs typeface="Arial"/>
                <a:sym typeface="Arial"/>
              </a:rPr>
              <a:t>cross-group diffusion</a:t>
            </a:r>
            <a:r>
              <a:rPr lang="en-US" sz="3410">
                <a:latin typeface="Arial"/>
                <a:ea typeface="Arial"/>
                <a:cs typeface="Arial"/>
                <a:sym typeface="Arial"/>
              </a:rPr>
              <a:t> is important to large-scale mobilization.</a:t>
            </a:r>
            <a:endParaRPr sz="3410">
              <a:latin typeface="Arial"/>
              <a:ea typeface="Arial"/>
              <a:cs typeface="Arial"/>
              <a:sym typeface="Arial"/>
            </a:endParaRPr>
          </a:p>
          <a:p>
            <a:pPr indent="0" lvl="0" marL="0" rtl="0" algn="l">
              <a:lnSpc>
                <a:spcPct val="115000"/>
              </a:lnSpc>
              <a:spcBef>
                <a:spcPts val="1200"/>
              </a:spcBef>
              <a:spcAft>
                <a:spcPts val="0"/>
              </a:spcAft>
              <a:buNone/>
            </a:pPr>
            <a:r>
              <a:rPr lang="en-US" sz="3410">
                <a:latin typeface="Arial"/>
                <a:ea typeface="Arial"/>
                <a:cs typeface="Arial"/>
                <a:sym typeface="Arial"/>
              </a:rPr>
              <a:t>→ Further discussion on the community network</a:t>
            </a:r>
            <a:endParaRPr sz="3410">
              <a:latin typeface="Arial"/>
              <a:ea typeface="Arial"/>
              <a:cs typeface="Arial"/>
              <a:sym typeface="Arial"/>
            </a:endParaRPr>
          </a:p>
          <a:p>
            <a:pPr indent="0" lvl="0" marL="0" rtl="0" algn="l">
              <a:lnSpc>
                <a:spcPct val="115000"/>
              </a:lnSpc>
              <a:spcBef>
                <a:spcPts val="1200"/>
              </a:spcBef>
              <a:spcAft>
                <a:spcPts val="1200"/>
              </a:spcAft>
              <a:buNone/>
            </a:pPr>
            <a:r>
              <a:t/>
            </a:r>
            <a:endParaRPr sz="1100">
              <a:latin typeface="Arial"/>
              <a:ea typeface="Arial"/>
              <a:cs typeface="Arial"/>
              <a:sym typeface="Arial"/>
            </a:endParaRPr>
          </a:p>
        </p:txBody>
      </p:sp>
      <p:pic>
        <p:nvPicPr>
          <p:cNvPr id="277" name="Google Shape;277;g345d982277e_1_100"/>
          <p:cNvPicPr preferRelativeResize="0"/>
          <p:nvPr/>
        </p:nvPicPr>
        <p:blipFill>
          <a:blip r:embed="rId3">
            <a:alphaModFix/>
          </a:blip>
          <a:stretch>
            <a:fillRect/>
          </a:stretch>
        </p:blipFill>
        <p:spPr>
          <a:xfrm>
            <a:off x="1559400" y="3291650"/>
            <a:ext cx="8734425" cy="2200275"/>
          </a:xfrm>
          <a:prstGeom prst="rect">
            <a:avLst/>
          </a:prstGeom>
          <a:noFill/>
          <a:ln>
            <a:noFill/>
          </a:ln>
        </p:spPr>
      </p:pic>
      <p:sp>
        <p:nvSpPr>
          <p:cNvPr id="278" name="Google Shape;278;g345d982277e_1_100"/>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24</a:t>
            </a:r>
            <a:endParaRPr sz="900">
              <a:solidFill>
                <a:srgbClr val="88888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45d982277e_1_135"/>
          <p:cNvSpPr txBox="1"/>
          <p:nvPr>
            <p:ph type="title"/>
          </p:nvPr>
        </p:nvSpPr>
        <p:spPr>
          <a:xfrm>
            <a:off x="820125" y="97050"/>
            <a:ext cx="11745000" cy="10779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a:t>The community network</a:t>
            </a:r>
            <a:endParaRPr b="1" sz="4000"/>
          </a:p>
        </p:txBody>
      </p:sp>
      <p:sp>
        <p:nvSpPr>
          <p:cNvPr id="284" name="Google Shape;284;g345d982277e_1_135"/>
          <p:cNvSpPr txBox="1"/>
          <p:nvPr>
            <p:ph idx="1" type="body"/>
          </p:nvPr>
        </p:nvSpPr>
        <p:spPr>
          <a:xfrm>
            <a:off x="820125" y="1292075"/>
            <a:ext cx="11353800" cy="1802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sz="1800">
                <a:latin typeface="Arial"/>
                <a:ea typeface="Arial"/>
                <a:cs typeface="Arial"/>
                <a:sym typeface="Arial"/>
              </a:rPr>
              <a:t>Retweets</a:t>
            </a:r>
            <a:r>
              <a:rPr lang="en-US" sz="1800">
                <a:latin typeface="Arial"/>
                <a:ea typeface="Arial"/>
                <a:cs typeface="Arial"/>
                <a:sym typeface="Arial"/>
              </a:rPr>
              <a:t> act as </a:t>
            </a:r>
            <a:r>
              <a:rPr b="1" lang="en-US" sz="1800">
                <a:latin typeface="Arial"/>
                <a:ea typeface="Arial"/>
                <a:cs typeface="Arial"/>
                <a:sym typeface="Arial"/>
              </a:rPr>
              <a:t>bridges</a:t>
            </a:r>
            <a:r>
              <a:rPr lang="en-US" sz="1800">
                <a:latin typeface="Arial"/>
                <a:ea typeface="Arial"/>
                <a:cs typeface="Arial"/>
                <a:sym typeface="Arial"/>
              </a:rPr>
              <a:t> between otherwise disconnected communities. </a:t>
            </a:r>
            <a:r>
              <a:rPr lang="en-US" sz="1800">
                <a:latin typeface="Arial"/>
                <a:ea typeface="Arial"/>
                <a:cs typeface="Arial"/>
                <a:sym typeface="Arial"/>
              </a:rPr>
              <a:t>I</a:t>
            </a:r>
            <a:r>
              <a:rPr lang="en-US" sz="1800">
                <a:latin typeface="Arial"/>
                <a:ea typeface="Arial"/>
                <a:cs typeface="Arial"/>
                <a:sym typeface="Arial"/>
              </a:rPr>
              <a:t>f a </a:t>
            </a:r>
            <a:r>
              <a:rPr lang="en-US" sz="1800">
                <a:latin typeface="Arial"/>
                <a:ea typeface="Arial"/>
                <a:cs typeface="Arial"/>
                <a:sym typeface="Arial"/>
              </a:rPr>
              <a:t>edges</a:t>
            </a:r>
            <a:r>
              <a:rPr lang="en-US" sz="1800">
                <a:latin typeface="Arial"/>
                <a:ea typeface="Arial"/>
                <a:cs typeface="Arial"/>
                <a:sym typeface="Arial"/>
              </a:rPr>
              <a:t> occurs within the community, it is not a bridge.</a:t>
            </a:r>
            <a:endParaRPr sz="1800">
              <a:latin typeface="Arial"/>
              <a:ea typeface="Arial"/>
              <a:cs typeface="Arial"/>
              <a:sym typeface="Arial"/>
            </a:endParaRPr>
          </a:p>
          <a:p>
            <a:pPr indent="0" lvl="0" marL="0" rtl="0" algn="l">
              <a:spcBef>
                <a:spcPts val="1000"/>
              </a:spcBef>
              <a:spcAft>
                <a:spcPts val="0"/>
              </a:spcAft>
              <a:buNone/>
            </a:pPr>
            <a:r>
              <a:t/>
            </a:r>
            <a:endParaRPr sz="1800">
              <a:latin typeface="Arial"/>
              <a:ea typeface="Arial"/>
              <a:cs typeface="Arial"/>
              <a:sym typeface="Arial"/>
            </a:endParaRPr>
          </a:p>
          <a:p>
            <a:pPr indent="0" lvl="0" marL="0" rtl="0" algn="l">
              <a:spcBef>
                <a:spcPts val="1000"/>
              </a:spcBef>
              <a:spcAft>
                <a:spcPts val="0"/>
              </a:spcAft>
              <a:buNone/>
            </a:pPr>
            <a:r>
              <a:rPr lang="en-US" sz="1800">
                <a:latin typeface="Arial"/>
                <a:ea typeface="Arial"/>
                <a:cs typeface="Arial"/>
                <a:sym typeface="Arial"/>
              </a:rPr>
              <a:t>These links </a:t>
            </a:r>
            <a:r>
              <a:rPr b="1" lang="en-US" sz="1800">
                <a:latin typeface="Arial"/>
                <a:ea typeface="Arial"/>
                <a:cs typeface="Arial"/>
                <a:sym typeface="Arial"/>
              </a:rPr>
              <a:t>break structural isolation</a:t>
            </a:r>
            <a:r>
              <a:rPr lang="en-US" sz="1800">
                <a:latin typeface="Arial"/>
                <a:ea typeface="Arial"/>
                <a:cs typeface="Arial"/>
                <a:sym typeface="Arial"/>
              </a:rPr>
              <a:t> and </a:t>
            </a:r>
            <a:r>
              <a:rPr b="1" lang="en-US" sz="1800">
                <a:latin typeface="Arial"/>
                <a:ea typeface="Arial"/>
                <a:cs typeface="Arial"/>
                <a:sym typeface="Arial"/>
              </a:rPr>
              <a:t>enable cross-group diffusion</a:t>
            </a:r>
            <a:r>
              <a:rPr lang="en-US" sz="1800">
                <a:latin typeface="Arial"/>
                <a:ea typeface="Arial"/>
                <a:cs typeface="Arial"/>
                <a:sym typeface="Arial"/>
              </a:rPr>
              <a:t>. The vast majority of communities are connected.</a:t>
            </a:r>
            <a:endParaRPr sz="1800">
              <a:latin typeface="Arial"/>
              <a:ea typeface="Arial"/>
              <a:cs typeface="Arial"/>
              <a:sym typeface="Arial"/>
            </a:endParaRPr>
          </a:p>
        </p:txBody>
      </p:sp>
      <p:pic>
        <p:nvPicPr>
          <p:cNvPr id="285" name="Google Shape;285;g345d982277e_1_135"/>
          <p:cNvPicPr preferRelativeResize="0"/>
          <p:nvPr/>
        </p:nvPicPr>
        <p:blipFill>
          <a:blip r:embed="rId4">
            <a:alphaModFix/>
          </a:blip>
          <a:stretch>
            <a:fillRect/>
          </a:stretch>
        </p:blipFill>
        <p:spPr>
          <a:xfrm>
            <a:off x="1321325" y="3094475"/>
            <a:ext cx="4251600" cy="3534076"/>
          </a:xfrm>
          <a:prstGeom prst="rect">
            <a:avLst/>
          </a:prstGeom>
          <a:noFill/>
          <a:ln>
            <a:noFill/>
          </a:ln>
        </p:spPr>
      </p:pic>
      <p:pic>
        <p:nvPicPr>
          <p:cNvPr id="286" name="Google Shape;286;g345d982277e_1_135"/>
          <p:cNvPicPr preferRelativeResize="0"/>
          <p:nvPr/>
        </p:nvPicPr>
        <p:blipFill>
          <a:blip r:embed="rId5">
            <a:alphaModFix/>
          </a:blip>
          <a:stretch>
            <a:fillRect/>
          </a:stretch>
        </p:blipFill>
        <p:spPr>
          <a:xfrm>
            <a:off x="6114150" y="3094475"/>
            <a:ext cx="4650950" cy="3473575"/>
          </a:xfrm>
          <a:prstGeom prst="rect">
            <a:avLst/>
          </a:prstGeom>
          <a:noFill/>
          <a:ln>
            <a:noFill/>
          </a:ln>
        </p:spPr>
      </p:pic>
      <p:sp>
        <p:nvSpPr>
          <p:cNvPr id="287" name="Google Shape;287;g345d982277e_1_135"/>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25</a:t>
            </a:r>
            <a:endParaRPr sz="900">
              <a:solidFill>
                <a:srgbClr val="888888"/>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g345d982277e_1_128"/>
          <p:cNvSpPr txBox="1"/>
          <p:nvPr>
            <p:ph type="title"/>
          </p:nvPr>
        </p:nvSpPr>
        <p:spPr>
          <a:xfrm>
            <a:off x="223500" y="85150"/>
            <a:ext cx="11745000" cy="1029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4000"/>
              <a:t>The community network</a:t>
            </a:r>
            <a:endParaRPr b="1" sz="4000"/>
          </a:p>
        </p:txBody>
      </p:sp>
      <p:sp>
        <p:nvSpPr>
          <p:cNvPr id="293" name="Google Shape;293;g345d982277e_1_128"/>
          <p:cNvSpPr txBox="1"/>
          <p:nvPr>
            <p:ph idx="1" type="body"/>
          </p:nvPr>
        </p:nvSpPr>
        <p:spPr>
          <a:xfrm>
            <a:off x="838200" y="1248750"/>
            <a:ext cx="11353800" cy="18024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lang="en-US" sz="2250">
                <a:latin typeface="Arial"/>
                <a:ea typeface="Arial"/>
                <a:cs typeface="Arial"/>
                <a:sym typeface="Arial"/>
              </a:rPr>
              <a:t>Most </a:t>
            </a:r>
            <a:r>
              <a:rPr b="1" lang="en-US" sz="2250">
                <a:latin typeface="Arial"/>
                <a:ea typeface="Arial"/>
                <a:cs typeface="Arial"/>
                <a:sym typeface="Arial"/>
              </a:rPr>
              <a:t>cross-community bridges</a:t>
            </a:r>
            <a:r>
              <a:rPr lang="en-US" sz="2250">
                <a:latin typeface="Arial"/>
                <a:ea typeface="Arial"/>
                <a:cs typeface="Arial"/>
                <a:sym typeface="Arial"/>
              </a:rPr>
              <a:t> are </a:t>
            </a:r>
            <a:r>
              <a:rPr b="1" lang="en-US" sz="2250">
                <a:latin typeface="Arial"/>
                <a:ea typeface="Arial"/>
                <a:cs typeface="Arial"/>
                <a:sym typeface="Arial"/>
              </a:rPr>
              <a:t>weak (one-way) ties.</a:t>
            </a:r>
            <a:endParaRPr b="1" sz="2250">
              <a:latin typeface="Arial"/>
              <a:ea typeface="Arial"/>
              <a:cs typeface="Arial"/>
              <a:sym typeface="Arial"/>
            </a:endParaRPr>
          </a:p>
          <a:p>
            <a:pPr indent="0" lvl="0" marL="0" rtl="0" algn="l">
              <a:spcBef>
                <a:spcPts val="1200"/>
              </a:spcBef>
              <a:spcAft>
                <a:spcPts val="0"/>
              </a:spcAft>
              <a:buNone/>
            </a:pPr>
            <a:r>
              <a:t/>
            </a:r>
            <a:endParaRPr sz="1800">
              <a:latin typeface="Arial"/>
              <a:ea typeface="Arial"/>
              <a:cs typeface="Arial"/>
              <a:sym typeface="Arial"/>
            </a:endParaRPr>
          </a:p>
        </p:txBody>
      </p:sp>
      <p:pic>
        <p:nvPicPr>
          <p:cNvPr id="294" name="Google Shape;294;g345d982277e_1_128"/>
          <p:cNvPicPr preferRelativeResize="0"/>
          <p:nvPr/>
        </p:nvPicPr>
        <p:blipFill>
          <a:blip r:embed="rId3">
            <a:alphaModFix/>
          </a:blip>
          <a:stretch>
            <a:fillRect/>
          </a:stretch>
        </p:blipFill>
        <p:spPr>
          <a:xfrm>
            <a:off x="3144850" y="2071275"/>
            <a:ext cx="5902299" cy="4563525"/>
          </a:xfrm>
          <a:prstGeom prst="rect">
            <a:avLst/>
          </a:prstGeom>
          <a:noFill/>
          <a:ln>
            <a:noFill/>
          </a:ln>
        </p:spPr>
      </p:pic>
      <p:sp>
        <p:nvSpPr>
          <p:cNvPr id="295" name="Google Shape;295;g345d982277e_1_128"/>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26</a:t>
            </a:r>
            <a:endParaRPr sz="900">
              <a:solidFill>
                <a:srgbClr val="888888"/>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345d982277e_1_1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330200" lvl="0" marL="228600" rtl="0" algn="l">
              <a:lnSpc>
                <a:spcPct val="115000"/>
              </a:lnSpc>
              <a:spcBef>
                <a:spcPts val="2400"/>
              </a:spcBef>
              <a:spcAft>
                <a:spcPts val="0"/>
              </a:spcAft>
              <a:buSzPts val="3400"/>
              <a:buFont typeface="Arial"/>
              <a:buChar char="•"/>
            </a:pPr>
            <a:r>
              <a:rPr lang="en-US" sz="3400">
                <a:latin typeface="Arial"/>
                <a:ea typeface="Arial"/>
                <a:cs typeface="Arial"/>
                <a:sym typeface="Arial"/>
              </a:rPr>
              <a:t>RQ2: </a:t>
            </a:r>
            <a:r>
              <a:rPr b="1" lang="en-US" sz="2200">
                <a:latin typeface="Arial"/>
                <a:ea typeface="Arial"/>
                <a:cs typeface="Arial"/>
                <a:sym typeface="Arial"/>
              </a:rPr>
              <a:t>How does the network structure change in online mobilization before and after a focusing event?</a:t>
            </a:r>
            <a:endParaRPr sz="3400"/>
          </a:p>
        </p:txBody>
      </p:sp>
      <p:sp>
        <p:nvSpPr>
          <p:cNvPr id="301" name="Google Shape;301;g345d982277e_1_114"/>
          <p:cNvSpPr txBox="1"/>
          <p:nvPr>
            <p:ph idx="1" type="body"/>
          </p:nvPr>
        </p:nvSpPr>
        <p:spPr>
          <a:xfrm>
            <a:off x="900125" y="2055700"/>
            <a:ext cx="10762200" cy="4351200"/>
          </a:xfrm>
          <a:prstGeom prst="rect">
            <a:avLst/>
          </a:prstGeom>
        </p:spPr>
        <p:txBody>
          <a:bodyPr anchorCtr="0" anchor="t" bIns="45700" lIns="91425" spcFirstLastPara="1" rIns="91425" wrap="square" tIns="45700">
            <a:normAutofit/>
          </a:bodyPr>
          <a:lstStyle/>
          <a:p>
            <a:pPr indent="-371475" lvl="0" marL="457200" rtl="0" algn="l">
              <a:lnSpc>
                <a:spcPct val="115000"/>
              </a:lnSpc>
              <a:spcBef>
                <a:spcPts val="1200"/>
              </a:spcBef>
              <a:spcAft>
                <a:spcPts val="0"/>
              </a:spcAft>
              <a:buSzPts val="2250"/>
              <a:buAutoNum type="arabicPeriod"/>
            </a:pPr>
            <a:r>
              <a:rPr lang="en-US" sz="2250">
                <a:latin typeface="Arial"/>
                <a:ea typeface="Arial"/>
                <a:cs typeface="Arial"/>
                <a:sym typeface="Arial"/>
              </a:rPr>
              <a:t>The network grew dramatically after the event.</a:t>
            </a:r>
            <a:endParaRPr sz="2250">
              <a:latin typeface="Arial"/>
              <a:ea typeface="Arial"/>
              <a:cs typeface="Arial"/>
              <a:sym typeface="Arial"/>
            </a:endParaRPr>
          </a:p>
          <a:p>
            <a:pPr indent="0" lvl="0" marL="457200" rtl="0" algn="l">
              <a:lnSpc>
                <a:spcPct val="115000"/>
              </a:lnSpc>
              <a:spcBef>
                <a:spcPts val="1200"/>
              </a:spcBef>
              <a:spcAft>
                <a:spcPts val="0"/>
              </a:spcAft>
              <a:buNone/>
            </a:pPr>
            <a:r>
              <a:t/>
            </a:r>
            <a:endParaRPr sz="2250">
              <a:latin typeface="Arial"/>
              <a:ea typeface="Arial"/>
              <a:cs typeface="Arial"/>
              <a:sym typeface="Arial"/>
            </a:endParaRPr>
          </a:p>
          <a:p>
            <a:pPr indent="-371475" lvl="0" marL="457200" rtl="0" algn="l">
              <a:lnSpc>
                <a:spcPct val="115000"/>
              </a:lnSpc>
              <a:spcBef>
                <a:spcPts val="1200"/>
              </a:spcBef>
              <a:spcAft>
                <a:spcPts val="0"/>
              </a:spcAft>
              <a:buSzPts val="2250"/>
              <a:buAutoNum type="arabicPeriod"/>
            </a:pPr>
            <a:r>
              <a:rPr lang="en-US" sz="2250">
                <a:latin typeface="Arial"/>
                <a:ea typeface="Arial"/>
                <a:cs typeface="Arial"/>
                <a:sym typeface="Arial"/>
                <a:extLst>
                  <a:ext uri="http://customooxmlschemas.google.com/">
                    <go:slidesCustomData xmlns:go="http://customooxmlschemas.google.com/" textRoundtripDataId="3"/>
                  </a:ext>
                </a:extLst>
              </a:rPr>
              <a:t>A </a:t>
            </a:r>
            <a:r>
              <a:rPr b="1" lang="en-US" sz="2250">
                <a:latin typeface="Arial"/>
                <a:ea typeface="Arial"/>
                <a:cs typeface="Arial"/>
                <a:sym typeface="Arial"/>
                <a:extLst>
                  <a:ext uri="http://customooxmlschemas.google.com/">
                    <go:slidesCustomData xmlns:go="http://customooxmlschemas.google.com/" textRoundtripDataId="4"/>
                  </a:ext>
                </a:extLst>
              </a:rPr>
              <a:t>broadcast-style pattern</a:t>
            </a:r>
            <a:r>
              <a:rPr lang="en-US" sz="2250">
                <a:latin typeface="Arial"/>
                <a:ea typeface="Arial"/>
                <a:cs typeface="Arial"/>
                <a:sym typeface="Arial"/>
                <a:extLst>
                  <a:ext uri="http://customooxmlschemas.google.com/">
                    <go:slidesCustomData xmlns:go="http://customooxmlschemas.google.com/" textRoundtripDataId="5"/>
                  </a:ext>
                </a:extLst>
              </a:rPr>
              <a:t> dominated the network throughout</a:t>
            </a:r>
            <a:r>
              <a:rPr lang="en-US" sz="2250">
                <a:latin typeface="Arial"/>
                <a:ea typeface="Arial"/>
                <a:cs typeface="Arial"/>
                <a:sym typeface="Arial"/>
                <a:extLst>
                  <a:ext uri="http://customooxmlschemas.google.com/">
                    <go:slidesCustomData xmlns:go="http://customooxmlschemas.google.com/" textRoundtripDataId="6"/>
                  </a:ext>
                </a:extLst>
              </a:rPr>
              <a:t>, and </a:t>
            </a:r>
            <a:r>
              <a:rPr b="1" lang="en-US" sz="2250">
                <a:latin typeface="Arial"/>
                <a:ea typeface="Arial"/>
                <a:cs typeface="Arial"/>
                <a:sym typeface="Arial"/>
                <a:extLst>
                  <a:ext uri="http://customooxmlschemas.google.com/">
                    <go:slidesCustomData xmlns:go="http://customooxmlschemas.google.com/" textRoundtripDataId="7"/>
                  </a:ext>
                </a:extLst>
              </a:rPr>
              <a:t>intensified after the event</a:t>
            </a:r>
            <a:r>
              <a:rPr lang="en-US" sz="2250">
                <a:latin typeface="Arial"/>
                <a:ea typeface="Arial"/>
                <a:cs typeface="Arial"/>
                <a:sym typeface="Arial"/>
                <a:extLst>
                  <a:ext uri="http://customooxmlschemas.google.com/">
                    <go:slidesCustomData xmlns:go="http://customooxmlschemas.google.com/" textRoundtripDataId="8"/>
                  </a:ext>
                </a:extLst>
              </a:rPr>
              <a:t>.</a:t>
            </a:r>
            <a:endParaRPr sz="2250">
              <a:latin typeface="Arial"/>
              <a:ea typeface="Arial"/>
              <a:cs typeface="Arial"/>
              <a:sym typeface="Arial"/>
            </a:endParaRPr>
          </a:p>
          <a:p>
            <a:pPr indent="0" lvl="0" marL="0" rtl="0" algn="l">
              <a:lnSpc>
                <a:spcPct val="115000"/>
              </a:lnSpc>
              <a:spcBef>
                <a:spcPts val="1200"/>
              </a:spcBef>
              <a:spcAft>
                <a:spcPts val="0"/>
              </a:spcAft>
              <a:buNone/>
            </a:pPr>
            <a:r>
              <a:t/>
            </a:r>
            <a:endParaRPr sz="2250">
              <a:latin typeface="Arial"/>
              <a:ea typeface="Arial"/>
              <a:cs typeface="Arial"/>
              <a:sym typeface="Arial"/>
            </a:endParaRPr>
          </a:p>
          <a:p>
            <a:pPr indent="-371475" lvl="0" marL="457200" rtl="0" algn="l">
              <a:lnSpc>
                <a:spcPct val="115000"/>
              </a:lnSpc>
              <a:spcBef>
                <a:spcPts val="1200"/>
              </a:spcBef>
              <a:spcAft>
                <a:spcPts val="0"/>
              </a:spcAft>
              <a:buSzPts val="2250"/>
              <a:buAutoNum type="arabicPeriod"/>
            </a:pPr>
            <a:r>
              <a:rPr b="1" lang="en-US" sz="2250">
                <a:latin typeface="Arial"/>
                <a:ea typeface="Arial"/>
                <a:cs typeface="Arial"/>
                <a:sym typeface="Arial"/>
              </a:rPr>
              <a:t>Weak, one-way ties</a:t>
            </a:r>
            <a:r>
              <a:rPr lang="en-US" sz="2250">
                <a:latin typeface="Arial"/>
                <a:ea typeface="Arial"/>
                <a:cs typeface="Arial"/>
                <a:sym typeface="Arial"/>
              </a:rPr>
              <a:t> became the main </a:t>
            </a:r>
            <a:r>
              <a:rPr b="1" lang="en-US" sz="2250">
                <a:latin typeface="Arial"/>
                <a:ea typeface="Arial"/>
                <a:cs typeface="Arial"/>
                <a:sym typeface="Arial"/>
                <a:extLst>
                  <a:ext uri="http://customooxmlschemas.google.com/">
                    <go:slidesCustomData xmlns:go="http://customooxmlschemas.google.com/" textRoundtripDataId="9"/>
                  </a:ext>
                </a:extLst>
              </a:rPr>
              <a:t>bridges</a:t>
            </a:r>
            <a:r>
              <a:rPr lang="en-US" sz="2250">
                <a:latin typeface="Arial"/>
                <a:ea typeface="Arial"/>
                <a:cs typeface="Arial"/>
                <a:sym typeface="Arial"/>
              </a:rPr>
              <a:t> connecting communities and breaking isolation.</a:t>
            </a:r>
            <a:endParaRPr sz="2250">
              <a:latin typeface="Arial"/>
              <a:ea typeface="Arial"/>
              <a:cs typeface="Arial"/>
              <a:sym typeface="Arial"/>
            </a:endParaRPr>
          </a:p>
          <a:p>
            <a:pPr indent="0" lvl="0" marL="0" rtl="0" algn="l">
              <a:lnSpc>
                <a:spcPct val="115000"/>
              </a:lnSpc>
              <a:spcBef>
                <a:spcPts val="1200"/>
              </a:spcBef>
              <a:spcAft>
                <a:spcPts val="0"/>
              </a:spcAft>
              <a:buNone/>
            </a:pPr>
            <a:r>
              <a:t/>
            </a:r>
            <a:endParaRPr sz="1500">
              <a:latin typeface="Arial"/>
              <a:ea typeface="Arial"/>
              <a:cs typeface="Arial"/>
              <a:sym typeface="Arial"/>
            </a:endParaRPr>
          </a:p>
          <a:p>
            <a:pPr indent="0" lvl="0" marL="0" rtl="0" algn="l">
              <a:lnSpc>
                <a:spcPct val="115000"/>
              </a:lnSpc>
              <a:spcBef>
                <a:spcPts val="1200"/>
              </a:spcBef>
              <a:spcAft>
                <a:spcPts val="1200"/>
              </a:spcAft>
              <a:buNone/>
            </a:pPr>
            <a:r>
              <a:rPr lang="en-US" sz="1600">
                <a:latin typeface="Arial"/>
                <a:ea typeface="Arial"/>
                <a:cs typeface="Arial"/>
                <a:sym typeface="Arial"/>
              </a:rPr>
              <a:t>*</a:t>
            </a:r>
            <a:r>
              <a:rPr b="1" lang="en-US" sz="1600">
                <a:latin typeface="Arial"/>
                <a:ea typeface="Arial"/>
                <a:cs typeface="Arial"/>
                <a:sym typeface="Arial"/>
                <a:extLst>
                  <a:ext uri="http://customooxmlschemas.google.com/">
                    <go:slidesCustomData xmlns:go="http://customooxmlschemas.google.com/" textRoundtripDataId="10"/>
                  </a:ext>
                </a:extLst>
              </a:rPr>
              <a:t>broadcast-style</a:t>
            </a:r>
            <a:r>
              <a:rPr b="1" lang="en-US" sz="1600">
                <a:latin typeface="Arial"/>
                <a:ea typeface="Arial"/>
                <a:cs typeface="Arial"/>
                <a:sym typeface="Arial"/>
              </a:rPr>
              <a:t>: </a:t>
            </a:r>
            <a:r>
              <a:rPr lang="en-US" sz="1600">
                <a:latin typeface="Arial"/>
                <a:ea typeface="Arial"/>
                <a:cs typeface="Arial"/>
                <a:sym typeface="Arial"/>
              </a:rPr>
              <a:t>Small number of users receive the most attention and spread the information through weak ties.</a:t>
            </a:r>
            <a:endParaRPr sz="1600">
              <a:latin typeface="Arial"/>
              <a:ea typeface="Arial"/>
              <a:cs typeface="Arial"/>
              <a:sym typeface="Arial"/>
            </a:endParaRPr>
          </a:p>
        </p:txBody>
      </p:sp>
      <p:sp>
        <p:nvSpPr>
          <p:cNvPr id="302" name="Google Shape;302;g345d982277e_1_114"/>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27</a:t>
            </a:r>
            <a:endParaRPr sz="900">
              <a:solidFill>
                <a:srgbClr val="888888"/>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43bd23a7fb_2_34"/>
          <p:cNvSpPr txBox="1"/>
          <p:nvPr>
            <p:ph type="title"/>
          </p:nvPr>
        </p:nvSpPr>
        <p:spPr>
          <a:xfrm>
            <a:off x="838200" y="117350"/>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4000">
                <a:latin typeface="Arial"/>
                <a:ea typeface="Arial"/>
                <a:cs typeface="Arial"/>
                <a:sym typeface="Arial"/>
                <a:extLst>
                  <a:ext uri="http://customooxmlschemas.google.com/">
                    <go:slidesCustomData xmlns:go="http://customooxmlschemas.google.com/" textRoundtripDataId="11"/>
                  </a:ext>
                </a:extLst>
              </a:rPr>
              <a:t>Summary and Hypothesis</a:t>
            </a:r>
            <a:r>
              <a:rPr b="1" lang="en-US" sz="2250">
                <a:latin typeface="Arial"/>
                <a:ea typeface="Arial"/>
                <a:cs typeface="Arial"/>
                <a:sym typeface="Arial"/>
                <a:extLst>
                  <a:ext uri="http://customooxmlschemas.google.com/">
                    <go:slidesCustomData xmlns:go="http://customooxmlschemas.google.com/" textRoundtripDataId="12"/>
                  </a:ext>
                </a:extLst>
              </a:rPr>
              <a:t>(</a:t>
            </a:r>
            <a:r>
              <a:rPr lang="en-US" sz="2250">
                <a:solidFill>
                  <a:srgbClr val="444746"/>
                </a:solidFill>
                <a:latin typeface="Arial"/>
                <a:ea typeface="Arial"/>
                <a:cs typeface="Arial"/>
                <a:sym typeface="Arial"/>
                <a:extLst>
                  <a:ext uri="http://customooxmlschemas.google.com/">
                    <go:slidesCustomData xmlns:go="http://customooxmlschemas.google.com/" textRoundtripDataId="13"/>
                  </a:ext>
                </a:extLst>
              </a:rPr>
              <a:t>need to be tested further)</a:t>
            </a:r>
            <a:endParaRPr b="1" sz="2250">
              <a:latin typeface="Arial"/>
              <a:ea typeface="Arial"/>
              <a:cs typeface="Arial"/>
              <a:sym typeface="Arial"/>
            </a:endParaRPr>
          </a:p>
          <a:p>
            <a:pPr indent="0" lvl="0" marL="0" rtl="0" algn="l">
              <a:spcBef>
                <a:spcPts val="0"/>
              </a:spcBef>
              <a:spcAft>
                <a:spcPts val="0"/>
              </a:spcAft>
              <a:buNone/>
            </a:pPr>
            <a:r>
              <a:t/>
            </a:r>
            <a:endParaRPr sz="2250">
              <a:latin typeface="Arial"/>
              <a:ea typeface="Arial"/>
              <a:cs typeface="Arial"/>
              <a:sym typeface="Arial"/>
            </a:endParaRPr>
          </a:p>
          <a:p>
            <a:pPr indent="0" lvl="0" marL="0" rtl="0" algn="l">
              <a:spcBef>
                <a:spcPts val="0"/>
              </a:spcBef>
              <a:spcAft>
                <a:spcPts val="0"/>
              </a:spcAft>
              <a:buNone/>
            </a:pPr>
            <a:r>
              <a:rPr lang="en-US" sz="2250">
                <a:latin typeface="Arial"/>
                <a:ea typeface="Arial"/>
                <a:cs typeface="Arial"/>
                <a:sym typeface="Arial"/>
              </a:rPr>
              <a:t>How can this structural change be used to explain the spread of information?</a:t>
            </a:r>
            <a:endParaRPr sz="2250">
              <a:latin typeface="Arial"/>
              <a:ea typeface="Arial"/>
              <a:cs typeface="Arial"/>
              <a:sym typeface="Arial"/>
            </a:endParaRPr>
          </a:p>
        </p:txBody>
      </p:sp>
      <p:sp>
        <p:nvSpPr>
          <p:cNvPr id="308" name="Google Shape;308;g343bd23a7fb_2_34"/>
          <p:cNvSpPr txBox="1"/>
          <p:nvPr>
            <p:ph idx="1" type="body"/>
          </p:nvPr>
        </p:nvSpPr>
        <p:spPr>
          <a:xfrm>
            <a:off x="838200" y="1677050"/>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None/>
            </a:pPr>
            <a:r>
              <a:rPr b="1" lang="en-US" sz="1800">
                <a:latin typeface="Arial"/>
                <a:ea typeface="Arial"/>
                <a:cs typeface="Arial"/>
                <a:sym typeface="Arial"/>
              </a:rPr>
              <a:t>1. New Users Enter the Discussion</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lang="en-US" sz="1800">
                <a:latin typeface="Arial"/>
                <a:ea typeface="Arial"/>
                <a:cs typeface="Arial"/>
                <a:sym typeface="Arial"/>
              </a:rPr>
              <a:t>The event triggered </a:t>
            </a:r>
            <a:r>
              <a:rPr b="1" lang="en-US" sz="1800">
                <a:latin typeface="Arial"/>
                <a:ea typeface="Arial"/>
                <a:cs typeface="Arial"/>
                <a:sym typeface="Arial"/>
              </a:rPr>
              <a:t>strong emotional reactions</a:t>
            </a:r>
            <a:r>
              <a:rPr lang="en-US" sz="1800">
                <a:latin typeface="Arial"/>
                <a:ea typeface="Arial"/>
                <a:cs typeface="Arial"/>
                <a:sym typeface="Arial"/>
              </a:rPr>
              <a:t> around social justice issues.</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New users, unlike more experienced users engaging with hashtags like #BLM, were less informed about social injustice.</a:t>
            </a:r>
            <a:endParaRPr sz="1800">
              <a:latin typeface="Arial"/>
              <a:ea typeface="Arial"/>
              <a:cs typeface="Arial"/>
              <a:sym typeface="Arial"/>
            </a:endParaRPr>
          </a:p>
          <a:p>
            <a:pPr indent="0" lvl="0" marL="0" rtl="0" algn="l">
              <a:lnSpc>
                <a:spcPct val="115000"/>
              </a:lnSpc>
              <a:spcBef>
                <a:spcPts val="1200"/>
              </a:spcBef>
              <a:spcAft>
                <a:spcPts val="0"/>
              </a:spcAft>
              <a:buNone/>
            </a:pPr>
            <a:r>
              <a:t/>
            </a:r>
            <a:endParaRPr sz="1800">
              <a:latin typeface="Arial"/>
              <a:ea typeface="Arial"/>
              <a:cs typeface="Arial"/>
              <a:sym typeface="Arial"/>
            </a:endParaRPr>
          </a:p>
          <a:p>
            <a:pPr indent="0" lvl="0" marL="0" rtl="0" algn="l">
              <a:lnSpc>
                <a:spcPct val="115000"/>
              </a:lnSpc>
              <a:spcBef>
                <a:spcPts val="1400"/>
              </a:spcBef>
              <a:spcAft>
                <a:spcPts val="0"/>
              </a:spcAft>
              <a:buNone/>
            </a:pPr>
            <a:r>
              <a:rPr b="1" lang="en-US" sz="1800">
                <a:latin typeface="Arial"/>
                <a:ea typeface="Arial"/>
                <a:cs typeface="Arial"/>
                <a:sym typeface="Arial"/>
              </a:rPr>
              <a:t>2.  Trending and Recommendation Systems Amplify Central Voices</a:t>
            </a:r>
            <a:endParaRPr b="1" sz="1800">
              <a:latin typeface="Arial"/>
              <a:ea typeface="Arial"/>
              <a:cs typeface="Arial"/>
              <a:sym typeface="Arial"/>
            </a:endParaRPr>
          </a:p>
          <a:p>
            <a:pPr indent="-342900" lvl="0" marL="457200" rtl="0" algn="l">
              <a:lnSpc>
                <a:spcPct val="115000"/>
              </a:lnSpc>
              <a:spcBef>
                <a:spcPts val="1200"/>
              </a:spcBef>
              <a:spcAft>
                <a:spcPts val="0"/>
              </a:spcAft>
              <a:buSzPts val="1800"/>
              <a:buChar char="●"/>
            </a:pPr>
            <a:r>
              <a:rPr lang="en-US" sz="1800">
                <a:latin typeface="Arial"/>
                <a:ea typeface="Arial"/>
                <a:cs typeface="Arial"/>
                <a:sym typeface="Arial"/>
              </a:rPr>
              <a:t>Platforms may amplify intense content</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New users followed central voices, not peers.</a:t>
            </a:r>
            <a:endParaRPr sz="1800">
              <a:latin typeface="Arial"/>
              <a:ea typeface="Arial"/>
              <a:cs typeface="Arial"/>
              <a:sym typeface="Arial"/>
            </a:endParaRPr>
          </a:p>
          <a:p>
            <a:pPr indent="-342900" lvl="0" marL="457200" rtl="0" algn="l">
              <a:lnSpc>
                <a:spcPct val="115000"/>
              </a:lnSpc>
              <a:spcBef>
                <a:spcPts val="0"/>
              </a:spcBef>
              <a:spcAft>
                <a:spcPts val="0"/>
              </a:spcAft>
              <a:buSzPts val="1800"/>
              <a:buChar char="●"/>
            </a:pPr>
            <a:r>
              <a:rPr lang="en-US" sz="1800">
                <a:latin typeface="Arial"/>
                <a:ea typeface="Arial"/>
                <a:cs typeface="Arial"/>
                <a:sym typeface="Arial"/>
              </a:rPr>
              <a:t>Weak ties enabled fast, cross-community spread.</a:t>
            </a:r>
            <a:endParaRPr b="1" sz="1800">
              <a:latin typeface="Arial"/>
              <a:ea typeface="Arial"/>
              <a:cs typeface="Arial"/>
              <a:sym typeface="Arial"/>
            </a:endParaRPr>
          </a:p>
        </p:txBody>
      </p:sp>
      <p:sp>
        <p:nvSpPr>
          <p:cNvPr id="309" name="Google Shape;309;g343bd23a7fb_2_34"/>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28</a:t>
            </a:r>
            <a:endParaRPr sz="900">
              <a:solidFill>
                <a:srgbClr val="888888"/>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343bd23a7fb_2_44"/>
          <p:cNvSpPr txBox="1"/>
          <p:nvPr>
            <p:ph type="ctrTitle"/>
          </p:nvPr>
        </p:nvSpPr>
        <p:spPr>
          <a:xfrm>
            <a:off x="1524000" y="1989538"/>
            <a:ext cx="9144000" cy="23877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None/>
            </a:pPr>
            <a:r>
              <a:rPr lang="en-US">
                <a:extLst>
                  <a:ext uri="http://customooxmlschemas.google.com/">
                    <go:slidesCustomData xmlns:go="http://customooxmlschemas.google.com/" textRoundtripDataId="14"/>
                  </a:ext>
                </a:extLst>
              </a:rPr>
              <a:t>Next steps</a:t>
            </a:r>
            <a:endParaRPr/>
          </a:p>
          <a:p>
            <a:pPr indent="0" lvl="0" marL="0" rtl="0" algn="ctr">
              <a:spcBef>
                <a:spcPts val="0"/>
              </a:spcBef>
              <a:spcAft>
                <a:spcPts val="0"/>
              </a:spcAft>
              <a:buNone/>
            </a:pPr>
            <a:r>
              <a:t/>
            </a:r>
            <a:endParaRPr/>
          </a:p>
        </p:txBody>
      </p:sp>
      <p:sp>
        <p:nvSpPr>
          <p:cNvPr id="315" name="Google Shape;315;g343bd23a7fb_2_44"/>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29</a:t>
            </a:r>
            <a:endParaRPr sz="900">
              <a:solidFill>
                <a:srgbClr val="888888"/>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43bd23a7fb_2_49"/>
          <p:cNvSpPr txBox="1"/>
          <p:nvPr>
            <p:ph type="title"/>
          </p:nvPr>
        </p:nvSpPr>
        <p:spPr>
          <a:xfrm>
            <a:off x="838200" y="56675"/>
            <a:ext cx="10515600" cy="13257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Clr>
                <a:schemeClr val="dk1"/>
              </a:buClr>
              <a:buSzPts val="1100"/>
              <a:buFont typeface="Arial"/>
              <a:buNone/>
            </a:pPr>
            <a:r>
              <a:rPr lang="en-US" sz="2500"/>
              <a:t>Next steps: </a:t>
            </a:r>
            <a:r>
              <a:rPr b="1" lang="en-US" sz="2500"/>
              <a:t>Multiple focusing event interruptions</a:t>
            </a:r>
            <a:endParaRPr b="1" sz="2500"/>
          </a:p>
        </p:txBody>
      </p:sp>
      <p:sp>
        <p:nvSpPr>
          <p:cNvPr id="321" name="Google Shape;321;g343bd23a7fb_2_49"/>
          <p:cNvSpPr txBox="1"/>
          <p:nvPr>
            <p:ph idx="1" type="body"/>
          </p:nvPr>
        </p:nvSpPr>
        <p:spPr>
          <a:xfrm>
            <a:off x="838200" y="5674925"/>
            <a:ext cx="10515600" cy="5019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1850"/>
              <a:t>Multiple focusing events occur in a digital movement,</a:t>
            </a:r>
            <a:r>
              <a:rPr lang="en-US" sz="1850"/>
              <a:t> they will be used to explore how these events influence people's reactions to emotional intensity in online discourse, as well as their impact on social network structure.</a:t>
            </a:r>
            <a:endParaRPr sz="1850"/>
          </a:p>
        </p:txBody>
      </p:sp>
      <p:pic>
        <p:nvPicPr>
          <p:cNvPr id="322" name="Google Shape;322;g343bd23a7fb_2_49"/>
          <p:cNvPicPr preferRelativeResize="0"/>
          <p:nvPr/>
        </p:nvPicPr>
        <p:blipFill>
          <a:blip r:embed="rId4">
            <a:alphaModFix/>
          </a:blip>
          <a:stretch>
            <a:fillRect/>
          </a:stretch>
        </p:blipFill>
        <p:spPr>
          <a:xfrm>
            <a:off x="502225" y="1873250"/>
            <a:ext cx="11034051" cy="3619250"/>
          </a:xfrm>
          <a:prstGeom prst="rect">
            <a:avLst/>
          </a:prstGeom>
          <a:noFill/>
          <a:ln>
            <a:noFill/>
          </a:ln>
        </p:spPr>
      </p:pic>
      <p:cxnSp>
        <p:nvCxnSpPr>
          <p:cNvPr id="323" name="Google Shape;323;g343bd23a7fb_2_49"/>
          <p:cNvCxnSpPr/>
          <p:nvPr/>
        </p:nvCxnSpPr>
        <p:spPr>
          <a:xfrm>
            <a:off x="2041150" y="1930650"/>
            <a:ext cx="292500" cy="519900"/>
          </a:xfrm>
          <a:prstGeom prst="straightConnector1">
            <a:avLst/>
          </a:prstGeom>
          <a:noFill/>
          <a:ln cap="flat" cmpd="sng" w="9525">
            <a:solidFill>
              <a:schemeClr val="dk2"/>
            </a:solidFill>
            <a:prstDash val="solid"/>
            <a:round/>
            <a:headEnd len="med" w="med" type="none"/>
            <a:tailEnd len="med" w="med" type="triangle"/>
          </a:ln>
        </p:spPr>
      </p:cxnSp>
      <p:cxnSp>
        <p:nvCxnSpPr>
          <p:cNvPr id="324" name="Google Shape;324;g343bd23a7fb_2_49"/>
          <p:cNvCxnSpPr/>
          <p:nvPr/>
        </p:nvCxnSpPr>
        <p:spPr>
          <a:xfrm>
            <a:off x="2590075" y="2018025"/>
            <a:ext cx="292500" cy="519900"/>
          </a:xfrm>
          <a:prstGeom prst="straightConnector1">
            <a:avLst/>
          </a:prstGeom>
          <a:noFill/>
          <a:ln cap="flat" cmpd="sng" w="9525">
            <a:solidFill>
              <a:schemeClr val="dk2"/>
            </a:solidFill>
            <a:prstDash val="solid"/>
            <a:round/>
            <a:headEnd len="med" w="med" type="none"/>
            <a:tailEnd len="med" w="med" type="triangle"/>
          </a:ln>
        </p:spPr>
      </p:cxnSp>
      <p:cxnSp>
        <p:nvCxnSpPr>
          <p:cNvPr id="325" name="Google Shape;325;g343bd23a7fb_2_49"/>
          <p:cNvCxnSpPr/>
          <p:nvPr/>
        </p:nvCxnSpPr>
        <p:spPr>
          <a:xfrm>
            <a:off x="3438050" y="1825925"/>
            <a:ext cx="292500" cy="519900"/>
          </a:xfrm>
          <a:prstGeom prst="straightConnector1">
            <a:avLst/>
          </a:prstGeom>
          <a:noFill/>
          <a:ln cap="flat" cmpd="sng" w="9525">
            <a:solidFill>
              <a:schemeClr val="dk2"/>
            </a:solidFill>
            <a:prstDash val="solid"/>
            <a:round/>
            <a:headEnd len="med" w="med" type="none"/>
            <a:tailEnd len="med" w="med" type="triangle"/>
          </a:ln>
        </p:spPr>
      </p:cxnSp>
      <p:cxnSp>
        <p:nvCxnSpPr>
          <p:cNvPr id="326" name="Google Shape;326;g343bd23a7fb_2_49"/>
          <p:cNvCxnSpPr/>
          <p:nvPr/>
        </p:nvCxnSpPr>
        <p:spPr>
          <a:xfrm>
            <a:off x="4389975" y="1783300"/>
            <a:ext cx="292500" cy="519900"/>
          </a:xfrm>
          <a:prstGeom prst="straightConnector1">
            <a:avLst/>
          </a:prstGeom>
          <a:noFill/>
          <a:ln cap="flat" cmpd="sng" w="9525">
            <a:solidFill>
              <a:schemeClr val="dk2"/>
            </a:solidFill>
            <a:prstDash val="solid"/>
            <a:round/>
            <a:headEnd len="med" w="med" type="none"/>
            <a:tailEnd len="med" w="med" type="triangle"/>
          </a:ln>
        </p:spPr>
      </p:cxnSp>
      <p:cxnSp>
        <p:nvCxnSpPr>
          <p:cNvPr id="327" name="Google Shape;327;g343bd23a7fb_2_49"/>
          <p:cNvCxnSpPr/>
          <p:nvPr/>
        </p:nvCxnSpPr>
        <p:spPr>
          <a:xfrm flipH="1">
            <a:off x="6553350" y="2110125"/>
            <a:ext cx="477900" cy="504600"/>
          </a:xfrm>
          <a:prstGeom prst="straightConnector1">
            <a:avLst/>
          </a:prstGeom>
          <a:noFill/>
          <a:ln cap="flat" cmpd="sng" w="9525">
            <a:solidFill>
              <a:schemeClr val="dk2"/>
            </a:solidFill>
            <a:prstDash val="solid"/>
            <a:round/>
            <a:headEnd len="med" w="med" type="none"/>
            <a:tailEnd len="med" w="med" type="triangle"/>
          </a:ln>
        </p:spPr>
      </p:cxnSp>
      <p:cxnSp>
        <p:nvCxnSpPr>
          <p:cNvPr id="328" name="Google Shape;328;g343bd23a7fb_2_49"/>
          <p:cNvCxnSpPr/>
          <p:nvPr/>
        </p:nvCxnSpPr>
        <p:spPr>
          <a:xfrm flipH="1">
            <a:off x="9273750" y="1884850"/>
            <a:ext cx="318600" cy="442200"/>
          </a:xfrm>
          <a:prstGeom prst="straightConnector1">
            <a:avLst/>
          </a:prstGeom>
          <a:noFill/>
          <a:ln cap="flat" cmpd="sng" w="9525">
            <a:solidFill>
              <a:schemeClr val="dk2"/>
            </a:solidFill>
            <a:prstDash val="solid"/>
            <a:round/>
            <a:headEnd len="med" w="med" type="none"/>
            <a:tailEnd len="med" w="med" type="triangle"/>
          </a:ln>
        </p:spPr>
      </p:cxnSp>
      <p:sp>
        <p:nvSpPr>
          <p:cNvPr id="329" name="Google Shape;329;g343bd23a7fb_2_49"/>
          <p:cNvSpPr txBox="1"/>
          <p:nvPr/>
        </p:nvSpPr>
        <p:spPr>
          <a:xfrm>
            <a:off x="5341900" y="1627325"/>
            <a:ext cx="5097000" cy="351000"/>
          </a:xfrm>
          <a:prstGeom prst="rect">
            <a:avLst/>
          </a:prstGeom>
          <a:noFill/>
          <a:ln>
            <a:noFill/>
          </a:ln>
        </p:spPr>
        <p:txBody>
          <a:bodyPr anchorCtr="0" anchor="t" bIns="91425" lIns="91425" spcFirstLastPara="1" rIns="91425" wrap="square" tIns="91425">
            <a:spAutoFit/>
          </a:bodyPr>
          <a:lstStyle/>
          <a:p>
            <a:pPr indent="0" lvl="0" marL="0" rtl="0" algn="ctr">
              <a:lnSpc>
                <a:spcPct val="90000"/>
              </a:lnSpc>
              <a:spcBef>
                <a:spcPts val="0"/>
              </a:spcBef>
              <a:spcAft>
                <a:spcPts val="0"/>
              </a:spcAft>
              <a:buClr>
                <a:schemeClr val="dk1"/>
              </a:buClr>
              <a:buSzPts val="4400"/>
              <a:buFont typeface="Calibri"/>
              <a:buNone/>
            </a:pPr>
            <a:r>
              <a:rPr lang="en-US" sz="1200" u="sng">
                <a:solidFill>
                  <a:schemeClr val="dk1"/>
                </a:solidFill>
              </a:rPr>
              <a:t>Murder of George Floyd’ event</a:t>
            </a:r>
            <a:endParaRPr sz="1200" u="sng">
              <a:solidFill>
                <a:schemeClr val="dk1"/>
              </a:solidFill>
              <a:latin typeface="Calibri"/>
              <a:ea typeface="Calibri"/>
              <a:cs typeface="Calibri"/>
              <a:sym typeface="Calibri"/>
            </a:endParaRPr>
          </a:p>
        </p:txBody>
      </p:sp>
      <p:sp>
        <p:nvSpPr>
          <p:cNvPr id="330" name="Google Shape;330;g343bd23a7fb_2_49"/>
          <p:cNvSpPr txBox="1"/>
          <p:nvPr/>
        </p:nvSpPr>
        <p:spPr>
          <a:xfrm>
            <a:off x="1987725" y="1515550"/>
            <a:ext cx="5097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50">
                <a:solidFill>
                  <a:srgbClr val="444746"/>
                </a:solidFill>
                <a:latin typeface="Roboto"/>
                <a:ea typeface="Roboto"/>
                <a:cs typeface="Roboto"/>
                <a:sym typeface="Roboto"/>
              </a:rPr>
              <a:t>Additional potential emotional intense events</a:t>
            </a:r>
            <a:r>
              <a:rPr lang="en-US" sz="1200" u="sng">
                <a:solidFill>
                  <a:schemeClr val="dk1"/>
                </a:solidFill>
                <a:extLst>
                  <a:ext uri="http://customooxmlschemas.google.com/">
                    <go:slidesCustomData xmlns:go="http://customooxmlschemas.google.com/" textRoundtripDataId="15"/>
                  </a:ext>
                </a:extLst>
              </a:rPr>
              <a:t>…</a:t>
            </a:r>
            <a:endParaRPr sz="1200" u="sng">
              <a:solidFill>
                <a:schemeClr val="dk1"/>
              </a:solidFill>
            </a:endParaRPr>
          </a:p>
        </p:txBody>
      </p:sp>
      <p:sp>
        <p:nvSpPr>
          <p:cNvPr id="331" name="Google Shape;331;g343bd23a7fb_2_49"/>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30</a:t>
            </a:r>
            <a:endParaRPr sz="900">
              <a:solidFill>
                <a:srgbClr val="888888"/>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g345d982277e_1_149"/>
          <p:cNvSpPr txBox="1"/>
          <p:nvPr>
            <p:ph idx="1" type="body"/>
          </p:nvPr>
        </p:nvSpPr>
        <p:spPr>
          <a:xfrm>
            <a:off x="515925" y="4668400"/>
            <a:ext cx="11307900" cy="1917000"/>
          </a:xfrm>
          <a:prstGeom prst="rect">
            <a:avLst/>
          </a:prstGeom>
        </p:spPr>
        <p:txBody>
          <a:bodyPr anchorCtr="0" anchor="t" bIns="45700" lIns="91425" spcFirstLastPara="1" rIns="91425" wrap="square" tIns="45700">
            <a:noAutofit/>
          </a:bodyPr>
          <a:lstStyle/>
          <a:p>
            <a:pPr indent="-387350" lvl="0" marL="457200" rtl="0" algn="l">
              <a:spcBef>
                <a:spcPts val="1000"/>
              </a:spcBef>
              <a:spcAft>
                <a:spcPts val="0"/>
              </a:spcAft>
              <a:buSzPts val="2500"/>
              <a:buChar char="●"/>
            </a:pPr>
            <a:r>
              <a:rPr lang="en-US" sz="2500"/>
              <a:t>Match events with similar pre-event network structures for comparability.</a:t>
            </a:r>
            <a:endParaRPr sz="2500"/>
          </a:p>
          <a:p>
            <a:pPr indent="-387350" lvl="0" marL="457200" rtl="0" algn="l">
              <a:spcBef>
                <a:spcPts val="1000"/>
              </a:spcBef>
              <a:spcAft>
                <a:spcPts val="0"/>
              </a:spcAft>
              <a:buSzPts val="2500"/>
              <a:buChar char="●"/>
            </a:pPr>
            <a:r>
              <a:rPr lang="en-US" sz="2500"/>
              <a:t>Focusing event as treatment</a:t>
            </a:r>
            <a:endParaRPr sz="2500"/>
          </a:p>
          <a:p>
            <a:pPr indent="-387350" lvl="0" marL="457200" rtl="0" algn="l">
              <a:spcBef>
                <a:spcPts val="1000"/>
              </a:spcBef>
              <a:spcAft>
                <a:spcPts val="0"/>
              </a:spcAft>
              <a:buSzPts val="2500"/>
              <a:buChar char="●"/>
            </a:pPr>
            <a:r>
              <a:rPr lang="en-US" sz="2500"/>
              <a:t>How does the network change differently for cases with versus without a focusing event?</a:t>
            </a:r>
            <a:endParaRPr/>
          </a:p>
        </p:txBody>
      </p:sp>
      <p:sp>
        <p:nvSpPr>
          <p:cNvPr id="337" name="Google Shape;337;g345d982277e_1_149"/>
          <p:cNvSpPr txBox="1"/>
          <p:nvPr>
            <p:ph type="title"/>
          </p:nvPr>
        </p:nvSpPr>
        <p:spPr>
          <a:xfrm>
            <a:off x="838200" y="101700"/>
            <a:ext cx="10515600" cy="898200"/>
          </a:xfrm>
          <a:prstGeom prst="rect">
            <a:avLst/>
          </a:prstGeom>
        </p:spPr>
        <p:txBody>
          <a:bodyPr anchorCtr="0" anchor="ctr" bIns="45700" lIns="91425" spcFirstLastPara="1" rIns="91425" wrap="square" tIns="45700">
            <a:normAutofit/>
          </a:bodyPr>
          <a:lstStyle/>
          <a:p>
            <a:pPr indent="0" lvl="0" marL="0" rtl="0" algn="l">
              <a:spcBef>
                <a:spcPts val="1000"/>
              </a:spcBef>
              <a:spcAft>
                <a:spcPts val="0"/>
              </a:spcAft>
              <a:buNone/>
            </a:pPr>
            <a:r>
              <a:rPr lang="en-US" sz="2500"/>
              <a:t>Next steps: </a:t>
            </a:r>
            <a:r>
              <a:rPr b="1" lang="en-US" sz="2500"/>
              <a:t>Matching to Create Treatment and Control Groups</a:t>
            </a:r>
            <a:endParaRPr b="1" sz="2500"/>
          </a:p>
        </p:txBody>
      </p:sp>
      <p:pic>
        <p:nvPicPr>
          <p:cNvPr id="338" name="Google Shape;338;g345d982277e_1_149"/>
          <p:cNvPicPr preferRelativeResize="0"/>
          <p:nvPr/>
        </p:nvPicPr>
        <p:blipFill>
          <a:blip r:embed="rId3">
            <a:alphaModFix/>
          </a:blip>
          <a:stretch>
            <a:fillRect/>
          </a:stretch>
        </p:blipFill>
        <p:spPr>
          <a:xfrm>
            <a:off x="2461125" y="999900"/>
            <a:ext cx="6636050" cy="3174075"/>
          </a:xfrm>
          <a:prstGeom prst="rect">
            <a:avLst/>
          </a:prstGeom>
          <a:noFill/>
          <a:ln>
            <a:noFill/>
          </a:ln>
        </p:spPr>
      </p:pic>
      <p:sp>
        <p:nvSpPr>
          <p:cNvPr id="339" name="Google Shape;339;g345d982277e_1_149"/>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31</a:t>
            </a:r>
            <a:endParaRPr sz="900">
              <a:solidFill>
                <a:srgbClr val="888888"/>
              </a:solidFill>
            </a:endParaRPr>
          </a:p>
        </p:txBody>
      </p:sp>
      <p:pic>
        <p:nvPicPr>
          <p:cNvPr id="340" name="Google Shape;340;g345d982277e_1_149"/>
          <p:cNvPicPr preferRelativeResize="0"/>
          <p:nvPr/>
        </p:nvPicPr>
        <p:blipFill>
          <a:blip r:embed="rId4">
            <a:alphaModFix/>
          </a:blip>
          <a:stretch>
            <a:fillRect/>
          </a:stretch>
        </p:blipFill>
        <p:spPr>
          <a:xfrm>
            <a:off x="8813550" y="1083450"/>
            <a:ext cx="1962000" cy="1368000"/>
          </a:xfrm>
          <a:prstGeom prst="rect">
            <a:avLst/>
          </a:prstGeom>
          <a:noFill/>
          <a:ln>
            <a:noFill/>
          </a:ln>
        </p:spPr>
      </p:pic>
      <p:pic>
        <p:nvPicPr>
          <p:cNvPr id="341" name="Google Shape;341;g345d982277e_1_149"/>
          <p:cNvPicPr preferRelativeResize="0"/>
          <p:nvPr/>
        </p:nvPicPr>
        <p:blipFill>
          <a:blip r:embed="rId5">
            <a:alphaModFix/>
          </a:blip>
          <a:stretch>
            <a:fillRect/>
          </a:stretch>
        </p:blipFill>
        <p:spPr>
          <a:xfrm>
            <a:off x="8753225" y="2603850"/>
            <a:ext cx="2419740" cy="191215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g33e3ff9dc5d_1_0"/>
          <p:cNvSpPr txBox="1"/>
          <p:nvPr>
            <p:ph type="title"/>
          </p:nvPr>
        </p:nvSpPr>
        <p:spPr>
          <a:xfrm>
            <a:off x="838200" y="-1587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Causal Estimation + Time Series Analysis</a:t>
            </a:r>
            <a:endParaRPr/>
          </a:p>
        </p:txBody>
      </p:sp>
      <p:sp>
        <p:nvSpPr>
          <p:cNvPr id="347" name="Google Shape;347;g33e3ff9dc5d_1_0"/>
          <p:cNvSpPr txBox="1"/>
          <p:nvPr>
            <p:ph idx="1" type="body"/>
          </p:nvPr>
        </p:nvSpPr>
        <p:spPr>
          <a:xfrm>
            <a:off x="909100" y="1184050"/>
            <a:ext cx="10659300" cy="1325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social network evolution and information diffusion under high emotionally intensive events</a:t>
            </a:r>
            <a:endParaRPr/>
          </a:p>
        </p:txBody>
      </p:sp>
      <p:pic>
        <p:nvPicPr>
          <p:cNvPr id="348" name="Google Shape;348;g33e3ff9dc5d_1_0"/>
          <p:cNvPicPr preferRelativeResize="0"/>
          <p:nvPr/>
        </p:nvPicPr>
        <p:blipFill>
          <a:blip r:embed="rId3">
            <a:alphaModFix/>
          </a:blip>
          <a:stretch>
            <a:fillRect/>
          </a:stretch>
        </p:blipFill>
        <p:spPr>
          <a:xfrm>
            <a:off x="182825" y="3051263"/>
            <a:ext cx="1962000" cy="1368000"/>
          </a:xfrm>
          <a:prstGeom prst="rect">
            <a:avLst/>
          </a:prstGeom>
          <a:noFill/>
          <a:ln>
            <a:noFill/>
          </a:ln>
        </p:spPr>
      </p:pic>
      <p:pic>
        <p:nvPicPr>
          <p:cNvPr id="349" name="Google Shape;349;g33e3ff9dc5d_1_0"/>
          <p:cNvPicPr preferRelativeResize="0"/>
          <p:nvPr/>
        </p:nvPicPr>
        <p:blipFill>
          <a:blip r:embed="rId4">
            <a:alphaModFix/>
          </a:blip>
          <a:stretch>
            <a:fillRect/>
          </a:stretch>
        </p:blipFill>
        <p:spPr>
          <a:xfrm>
            <a:off x="6887838" y="2509750"/>
            <a:ext cx="3051427" cy="2685173"/>
          </a:xfrm>
          <a:prstGeom prst="rect">
            <a:avLst/>
          </a:prstGeom>
          <a:noFill/>
          <a:ln>
            <a:noFill/>
          </a:ln>
        </p:spPr>
      </p:pic>
      <p:pic>
        <p:nvPicPr>
          <p:cNvPr id="350" name="Google Shape;350;g33e3ff9dc5d_1_0"/>
          <p:cNvPicPr preferRelativeResize="0"/>
          <p:nvPr/>
        </p:nvPicPr>
        <p:blipFill>
          <a:blip r:embed="rId5">
            <a:alphaModFix/>
          </a:blip>
          <a:stretch>
            <a:fillRect/>
          </a:stretch>
        </p:blipFill>
        <p:spPr>
          <a:xfrm>
            <a:off x="3178450" y="2509749"/>
            <a:ext cx="2836176" cy="2241225"/>
          </a:xfrm>
          <a:prstGeom prst="rect">
            <a:avLst/>
          </a:prstGeom>
          <a:noFill/>
          <a:ln>
            <a:noFill/>
          </a:ln>
        </p:spPr>
      </p:pic>
      <p:cxnSp>
        <p:nvCxnSpPr>
          <p:cNvPr id="351" name="Google Shape;351;g33e3ff9dc5d_1_0"/>
          <p:cNvCxnSpPr/>
          <p:nvPr/>
        </p:nvCxnSpPr>
        <p:spPr>
          <a:xfrm flipH="1" rot="10800000">
            <a:off x="2147100" y="3666975"/>
            <a:ext cx="850800" cy="10200"/>
          </a:xfrm>
          <a:prstGeom prst="straightConnector1">
            <a:avLst/>
          </a:prstGeom>
          <a:noFill/>
          <a:ln cap="flat" cmpd="sng" w="9525">
            <a:solidFill>
              <a:schemeClr val="dk2"/>
            </a:solidFill>
            <a:prstDash val="solid"/>
            <a:round/>
            <a:headEnd len="med" w="med" type="none"/>
            <a:tailEnd len="med" w="med" type="triangle"/>
          </a:ln>
        </p:spPr>
      </p:cxnSp>
      <p:cxnSp>
        <p:nvCxnSpPr>
          <p:cNvPr id="352" name="Google Shape;352;g33e3ff9dc5d_1_0"/>
          <p:cNvCxnSpPr/>
          <p:nvPr/>
        </p:nvCxnSpPr>
        <p:spPr>
          <a:xfrm flipH="1" rot="10800000">
            <a:off x="5980175" y="3586400"/>
            <a:ext cx="850800" cy="10200"/>
          </a:xfrm>
          <a:prstGeom prst="straightConnector1">
            <a:avLst/>
          </a:prstGeom>
          <a:noFill/>
          <a:ln cap="flat" cmpd="sng" w="9525">
            <a:solidFill>
              <a:schemeClr val="dk2"/>
            </a:solidFill>
            <a:prstDash val="solid"/>
            <a:round/>
            <a:headEnd len="med" w="med" type="none"/>
            <a:tailEnd len="med" w="med" type="triangle"/>
          </a:ln>
        </p:spPr>
      </p:cxnSp>
      <p:cxnSp>
        <p:nvCxnSpPr>
          <p:cNvPr id="353" name="Google Shape;353;g33e3ff9dc5d_1_0"/>
          <p:cNvCxnSpPr/>
          <p:nvPr/>
        </p:nvCxnSpPr>
        <p:spPr>
          <a:xfrm flipH="1" rot="10800000">
            <a:off x="9939275" y="3586400"/>
            <a:ext cx="850800" cy="10200"/>
          </a:xfrm>
          <a:prstGeom prst="straightConnector1">
            <a:avLst/>
          </a:prstGeom>
          <a:noFill/>
          <a:ln cap="flat" cmpd="sng" w="9525">
            <a:solidFill>
              <a:schemeClr val="dk2"/>
            </a:solidFill>
            <a:prstDash val="solid"/>
            <a:round/>
            <a:headEnd len="med" w="med" type="none"/>
            <a:tailEnd len="med" w="med" type="triangle"/>
          </a:ln>
        </p:spPr>
      </p:cxnSp>
      <p:sp>
        <p:nvSpPr>
          <p:cNvPr id="354" name="Google Shape;354;g33e3ff9dc5d_1_0"/>
          <p:cNvSpPr txBox="1"/>
          <p:nvPr>
            <p:ph idx="1" type="body"/>
          </p:nvPr>
        </p:nvSpPr>
        <p:spPr>
          <a:xfrm>
            <a:off x="11099875" y="3251600"/>
            <a:ext cx="924300" cy="527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345d982277e_1_170"/>
          <p:cNvSpPr txBox="1"/>
          <p:nvPr>
            <p:ph type="title"/>
          </p:nvPr>
        </p:nvSpPr>
        <p:spPr>
          <a:xfrm>
            <a:off x="838200" y="1842925"/>
            <a:ext cx="10515600" cy="13257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None/>
            </a:pPr>
            <a:r>
              <a:rPr b="1" lang="en-US" sz="5000">
                <a:latin typeface="Arial"/>
                <a:ea typeface="Arial"/>
                <a:cs typeface="Arial"/>
                <a:sym typeface="Arial"/>
              </a:rPr>
              <a:t>Thank You！</a:t>
            </a:r>
            <a:endParaRPr sz="5000"/>
          </a:p>
        </p:txBody>
      </p:sp>
      <p:sp>
        <p:nvSpPr>
          <p:cNvPr id="360" name="Google Shape;360;g345d982277e_1_170"/>
          <p:cNvSpPr txBox="1"/>
          <p:nvPr/>
        </p:nvSpPr>
        <p:spPr>
          <a:xfrm>
            <a:off x="920325" y="3822800"/>
            <a:ext cx="106632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800">
                <a:solidFill>
                  <a:schemeClr val="dk1"/>
                </a:solidFill>
                <a:latin typeface="Calibri"/>
                <a:ea typeface="Calibri"/>
                <a:cs typeface="Calibri"/>
                <a:sym typeface="Calibri"/>
              </a:rPr>
              <a:t>If you have any further questions, feel free to reach out: hchen0628@uchicago.edu</a:t>
            </a:r>
            <a:endParaRPr sz="2800">
              <a:solidFill>
                <a:schemeClr val="dk1"/>
              </a:solidFill>
              <a:latin typeface="Calibri"/>
              <a:ea typeface="Calibri"/>
              <a:cs typeface="Calibri"/>
              <a:sym typeface="Calibri"/>
            </a:endParaRPr>
          </a:p>
        </p:txBody>
      </p:sp>
      <p:sp>
        <p:nvSpPr>
          <p:cNvPr id="361" name="Google Shape;361;g345d982277e_1_170"/>
          <p:cNvSpPr txBox="1"/>
          <p:nvPr/>
        </p:nvSpPr>
        <p:spPr>
          <a:xfrm>
            <a:off x="6972075" y="6389025"/>
            <a:ext cx="50970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900">
                <a:solidFill>
                  <a:srgbClr val="888888"/>
                </a:solidFill>
              </a:rPr>
              <a:t>32</a:t>
            </a:r>
            <a:endParaRPr sz="900">
              <a:solidFill>
                <a:srgbClr val="88888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2025-03-13T15:44:32Z</dcterms:created>
  <dc:creator>Zhao Wang</dc:creator>
</cp:coreProperties>
</file>